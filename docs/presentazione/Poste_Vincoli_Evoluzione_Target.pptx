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47472"/>
            <a:ext cx="1417320" cy="384048"/>
          </a:xfrm>
          <a:prstGeom prst="rect">
            <a:avLst/>
          </a:prstGeom>
          <a:solidFill>
            <a:srgbClr val="D52B1E"/>
          </a:solidFill>
          <a:ln>
            <a:solidFill>
              <a:srgbClr val="D52B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93192"/>
            <a:ext cx="1188720" cy="256032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9189720" y="411480"/>
            <a:ext cx="1024128" cy="274320"/>
          </a:xfrm>
          <a:prstGeom prst="rect">
            <a:avLst/>
          </a:prstGeom>
          <a:solidFill>
            <a:srgbClr val="183554"/>
          </a:solidFill>
          <a:ln>
            <a:solidFill>
              <a:srgbClr val="1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272016" y="429768"/>
            <a:ext cx="868680" cy="20116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POSTE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68680"/>
            <a:ext cx="8686800" cy="530352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2400" b="1">
                <a:solidFill>
                  <a:srgbClr val="0B1F33"/>
                </a:solidFill>
                <a:latin typeface="Aptos Display"/>
              </a:rPr>
              <a:t>Vincoli Architetturali Poste — Risposta nella POC e nel Target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463040"/>
            <a:ext cx="2011680" cy="45720"/>
          </a:xfrm>
          <a:prstGeom prst="rect">
            <a:avLst/>
          </a:prstGeom>
          <a:solidFill>
            <a:srgbClr val="D52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561320" y="0"/>
            <a:ext cx="1627632" cy="6858000"/>
          </a:xfrm>
          <a:prstGeom prst="rect">
            <a:avLst/>
          </a:prstGeom>
          <a:solidFill>
            <a:srgbClr val="DE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600200"/>
            <a:ext cx="1536192" cy="402336"/>
          </a:xfrm>
          <a:prstGeom prst="rect">
            <a:avLst/>
          </a:prstGeom>
          <a:solidFill>
            <a:srgbClr val="183554"/>
          </a:solidFill>
          <a:ln>
            <a:solidFill>
              <a:srgbClr val="1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645920"/>
            <a:ext cx="1463040" cy="33832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Vincolo Poste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12848" y="1600200"/>
            <a:ext cx="1682496" cy="402336"/>
          </a:xfrm>
          <a:prstGeom prst="rect">
            <a:avLst/>
          </a:prstGeom>
          <a:solidFill>
            <a:srgbClr val="183554"/>
          </a:solidFill>
          <a:ln>
            <a:solidFill>
              <a:srgbClr val="1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67712" y="1645920"/>
            <a:ext cx="1609344" cy="33832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Valore dichiarato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13632" y="1600200"/>
            <a:ext cx="2121408" cy="402336"/>
          </a:xfrm>
          <a:prstGeom prst="rect">
            <a:avLst/>
          </a:prstGeom>
          <a:solidFill>
            <a:srgbClr val="183554"/>
          </a:solidFill>
          <a:ln>
            <a:solidFill>
              <a:srgbClr val="1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68496" y="1645920"/>
            <a:ext cx="2048256" cy="33832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Nella POC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53328" y="1600200"/>
            <a:ext cx="4279392" cy="402336"/>
          </a:xfrm>
          <a:prstGeom prst="rect">
            <a:avLst/>
          </a:prstGeom>
          <a:solidFill>
            <a:srgbClr val="183554"/>
          </a:solidFill>
          <a:ln>
            <a:solidFill>
              <a:srgbClr val="1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08192" y="1645920"/>
            <a:ext cx="4206240" cy="33832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Architettura enterprise target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2002536"/>
            <a:ext cx="1536192" cy="402336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2048256"/>
            <a:ext cx="1463040" cy="33832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00" b="1">
                <a:solidFill>
                  <a:srgbClr val="183554"/>
                </a:solidFill>
                <a:latin typeface="Aptos"/>
              </a:rPr>
              <a:t>Database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12848" y="2002536"/>
            <a:ext cx="1682496" cy="402336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67712" y="2048256"/>
            <a:ext cx="1609344" cy="33832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00" b="0">
                <a:solidFill>
                  <a:srgbClr val="0B1F33"/>
                </a:solidFill>
                <a:latin typeface="Aptos"/>
              </a:rPr>
              <a:t>MariaDB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13632" y="2002536"/>
            <a:ext cx="2121408" cy="402336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68496" y="2048256"/>
            <a:ext cx="2048256" cy="33832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00" b="0">
                <a:solidFill>
                  <a:srgbClr val="228B57"/>
                </a:solidFill>
                <a:latin typeface="Aptos"/>
              </a:rPr>
              <a:t>✅ MariaDB :3308 — schema anc/kogito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53328" y="2002536"/>
            <a:ext cx="4279392" cy="402336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08192" y="2048256"/>
            <a:ext cx="4206240" cy="33832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00" b="0">
                <a:solidFill>
                  <a:srgbClr val="2D7A7A"/>
                </a:solidFill>
                <a:latin typeface="Aptos"/>
              </a:rPr>
              <a:t>MariaDB HA Galera — replica multi-nodo, backup ≥ 90 gg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2404872"/>
            <a:ext cx="1536192" cy="402336"/>
          </a:xfrm>
          <a:prstGeom prst="rect">
            <a:avLst/>
          </a:prstGeom>
          <a:solidFill>
            <a:srgbClr val="F7F3EE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2450592"/>
            <a:ext cx="1463040" cy="33832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00" b="1">
                <a:solidFill>
                  <a:srgbClr val="183554"/>
                </a:solidFill>
                <a:latin typeface="Aptos"/>
              </a:rPr>
              <a:t>Backend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12848" y="2404872"/>
            <a:ext cx="1682496" cy="402336"/>
          </a:xfrm>
          <a:prstGeom prst="rect">
            <a:avLst/>
          </a:prstGeom>
          <a:solidFill>
            <a:srgbClr val="F7F3EE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267712" y="2450592"/>
            <a:ext cx="1609344" cy="33832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00" b="0">
                <a:solidFill>
                  <a:srgbClr val="0B1F33"/>
                </a:solidFill>
                <a:latin typeface="Aptos"/>
              </a:rPr>
              <a:t>Java / OpenJDK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13632" y="2404872"/>
            <a:ext cx="2121408" cy="402336"/>
          </a:xfrm>
          <a:prstGeom prst="rect">
            <a:avLst/>
          </a:prstGeom>
          <a:solidFill>
            <a:srgbClr val="F7F3EE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968496" y="2450592"/>
            <a:ext cx="2048256" cy="33832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00" b="0">
                <a:solidFill>
                  <a:srgbClr val="228B57"/>
                </a:solidFill>
                <a:latin typeface="Aptos"/>
              </a:rPr>
              <a:t>✅ Java 21 LTS — Spring Boot 3.3+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53328" y="2404872"/>
            <a:ext cx="4279392" cy="402336"/>
          </a:xfrm>
          <a:prstGeom prst="rect">
            <a:avLst/>
          </a:prstGeom>
          <a:solidFill>
            <a:srgbClr val="F7F3EE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08192" y="2450592"/>
            <a:ext cx="4206240" cy="33832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00" b="0">
                <a:solidFill>
                  <a:srgbClr val="2D7A7A"/>
                </a:solidFill>
                <a:latin typeface="Aptos"/>
              </a:rPr>
              <a:t>Java 21 LTS — stesso stack, Virtual Threads, LTS 2031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2807208"/>
            <a:ext cx="1536192" cy="402336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3232" y="2852928"/>
            <a:ext cx="1463040" cy="33832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00" b="1">
                <a:solidFill>
                  <a:srgbClr val="183554"/>
                </a:solidFill>
                <a:latin typeface="Aptos"/>
              </a:rPr>
              <a:t>Frontend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12848" y="2807208"/>
            <a:ext cx="1682496" cy="402336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267712" y="2852928"/>
            <a:ext cx="1609344" cy="33832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00" b="0">
                <a:solidFill>
                  <a:srgbClr val="0B1F33"/>
                </a:solidFill>
                <a:latin typeface="Aptos"/>
              </a:rPr>
              <a:t>React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913632" y="2807208"/>
            <a:ext cx="2121408" cy="402336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68496" y="2852928"/>
            <a:ext cx="2048256" cy="33832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00" b="0">
                <a:solidFill>
                  <a:srgbClr val="228B57"/>
                </a:solidFill>
                <a:latin typeface="Aptos"/>
              </a:rPr>
              <a:t>✅ React 19 + Vite (Scrivania :81)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53328" y="2807208"/>
            <a:ext cx="4279392" cy="402336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08192" y="2852928"/>
            <a:ext cx="4206240" cy="33832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00" b="0">
                <a:solidFill>
                  <a:srgbClr val="2D7A7A"/>
                </a:solidFill>
                <a:latin typeface="Aptos"/>
              </a:rPr>
              <a:t>React 19 + TypeScript 5.7 — design system enterprise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3209544"/>
            <a:ext cx="1536192" cy="402336"/>
          </a:xfrm>
          <a:prstGeom prst="rect">
            <a:avLst/>
          </a:prstGeom>
          <a:solidFill>
            <a:srgbClr val="F7F3EE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3232" y="3255264"/>
            <a:ext cx="1463040" cy="33832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00" b="1">
                <a:solidFill>
                  <a:srgbClr val="183554"/>
                </a:solidFill>
                <a:latin typeface="Aptos"/>
              </a:rPr>
              <a:t>Identità / IAM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212848" y="3209544"/>
            <a:ext cx="1682496" cy="402336"/>
          </a:xfrm>
          <a:prstGeom prst="rect">
            <a:avLst/>
          </a:prstGeom>
          <a:solidFill>
            <a:srgbClr val="F7F3EE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267712" y="3255264"/>
            <a:ext cx="1609344" cy="33832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00" b="0">
                <a:solidFill>
                  <a:srgbClr val="0B1F33"/>
                </a:solidFill>
                <a:latin typeface="Aptos"/>
              </a:rPr>
              <a:t>AD / Entra ID / Oracle IAM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913632" y="3209544"/>
            <a:ext cx="2121408" cy="402336"/>
          </a:xfrm>
          <a:prstGeom prst="rect">
            <a:avLst/>
          </a:prstGeom>
          <a:solidFill>
            <a:srgbClr val="F7F3EE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968496" y="3255264"/>
            <a:ext cx="2048256" cy="33832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00" b="0">
                <a:solidFill>
                  <a:srgbClr val="B46414"/>
                </a:solidFill>
                <a:latin typeface="Aptos"/>
              </a:rPr>
              <a:t>⚠️ Stub — nessuna autenticazione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53328" y="3209544"/>
            <a:ext cx="4279392" cy="402336"/>
          </a:xfrm>
          <a:prstGeom prst="rect">
            <a:avLst/>
          </a:prstGeom>
          <a:solidFill>
            <a:srgbClr val="F7F3EE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08192" y="3255264"/>
            <a:ext cx="4206240" cy="33832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00" b="0">
                <a:solidFill>
                  <a:srgbClr val="2D7A7A"/>
                </a:solidFill>
                <a:latin typeface="Aptos"/>
              </a:rPr>
              <a:t>Keycloak 24: federazione AD/Entra ID, OIDC, SSO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8368" y="3611880"/>
            <a:ext cx="1536192" cy="402336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13232" y="3657600"/>
            <a:ext cx="1463040" cy="33832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00" b="1">
                <a:solidFill>
                  <a:srgbClr val="183554"/>
                </a:solidFill>
                <a:latin typeface="Aptos"/>
              </a:rPr>
              <a:t>Sicurezza API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212848" y="3611880"/>
            <a:ext cx="1682496" cy="402336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267712" y="3657600"/>
            <a:ext cx="1609344" cy="33832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00" b="0">
                <a:solidFill>
                  <a:srgbClr val="0B1F33"/>
                </a:solidFill>
                <a:latin typeface="Aptos"/>
              </a:rPr>
              <a:t>OAuth 2.0 + TLS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913632" y="3611880"/>
            <a:ext cx="2121408" cy="402336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968496" y="3657600"/>
            <a:ext cx="2048256" cy="33832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00" b="0">
                <a:solidFill>
                  <a:srgbClr val="B46414"/>
                </a:solidFill>
                <a:latin typeface="Aptos"/>
              </a:rPr>
              <a:t>⚠️ Assente — rete locale isolata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053328" y="3611880"/>
            <a:ext cx="4279392" cy="402336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08192" y="3657600"/>
            <a:ext cx="4206240" cy="33832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00" b="0">
                <a:solidFill>
                  <a:srgbClr val="2D7A7A"/>
                </a:solidFill>
                <a:latin typeface="Aptos"/>
              </a:rPr>
              <a:t>OAuth 2.0 + TLS 1.3 + mTLS inter-servizio + JWT gateway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8368" y="4014216"/>
            <a:ext cx="1536192" cy="402336"/>
          </a:xfrm>
          <a:prstGeom prst="rect">
            <a:avLst/>
          </a:prstGeom>
          <a:solidFill>
            <a:srgbClr val="F7F3EE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13232" y="4059936"/>
            <a:ext cx="1463040" cy="33832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00" b="1">
                <a:solidFill>
                  <a:srgbClr val="183554"/>
                </a:solidFill>
                <a:latin typeface="Aptos"/>
              </a:rPr>
              <a:t>Autorizzazione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212848" y="4014216"/>
            <a:ext cx="1682496" cy="402336"/>
          </a:xfrm>
          <a:prstGeom prst="rect">
            <a:avLst/>
          </a:prstGeom>
          <a:solidFill>
            <a:srgbClr val="F7F3EE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267712" y="4059936"/>
            <a:ext cx="1609344" cy="33832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00" b="0">
                <a:solidFill>
                  <a:srgbClr val="0B1F33"/>
                </a:solidFill>
                <a:latin typeface="Aptos"/>
              </a:rPr>
              <a:t>RBAC gerarchico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913632" y="4014216"/>
            <a:ext cx="2121408" cy="402336"/>
          </a:xfrm>
          <a:prstGeom prst="rect">
            <a:avLst/>
          </a:prstGeom>
          <a:solidFill>
            <a:srgbClr val="F7F3EE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968496" y="4059936"/>
            <a:ext cx="2048256" cy="33832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00" b="0">
                <a:solidFill>
                  <a:srgbClr val="B46414"/>
                </a:solidFill>
                <a:latin typeface="Aptos"/>
              </a:rPr>
              <a:t>⚠️ Assente — stub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053328" y="4014216"/>
            <a:ext cx="4279392" cy="402336"/>
          </a:xfrm>
          <a:prstGeom prst="rect">
            <a:avLst/>
          </a:prstGeom>
          <a:solidFill>
            <a:srgbClr val="F7F3EE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108192" y="4059936"/>
            <a:ext cx="4206240" cy="33832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00" b="0">
                <a:solidFill>
                  <a:srgbClr val="2D7A7A"/>
                </a:solidFill>
                <a:latin typeface="Aptos"/>
              </a:rPr>
              <a:t>Keycloak realm + gruppi gerarchici + ABAC policy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58368" y="4416552"/>
            <a:ext cx="1536192" cy="402336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13232" y="4462272"/>
            <a:ext cx="1463040" cy="33832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00" b="1">
                <a:solidFill>
                  <a:srgbClr val="183554"/>
                </a:solidFill>
                <a:latin typeface="Aptos"/>
              </a:rPr>
              <a:t>Storage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212848" y="4416552"/>
            <a:ext cx="1682496" cy="402336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267712" y="4462272"/>
            <a:ext cx="1609344" cy="33832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00" b="0">
                <a:solidFill>
                  <a:srgbClr val="0B1F33"/>
                </a:solidFill>
                <a:latin typeface="Aptos"/>
              </a:rPr>
              <a:t>Pluggable S3 / FS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913632" y="4416552"/>
            <a:ext cx="2121408" cy="402336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968496" y="4462272"/>
            <a:ext cx="2048256" cy="33832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00" b="0">
                <a:solidFill>
                  <a:srgbClr val="228B57"/>
                </a:solidFill>
                <a:latin typeface="Aptos"/>
              </a:rPr>
              <a:t>✅ MinIO locale — S3-compatible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053328" y="4416552"/>
            <a:ext cx="4279392" cy="402336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108192" y="4462272"/>
            <a:ext cx="4206240" cy="33832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00" b="0">
                <a:solidFill>
                  <a:srgbClr val="2D7A7A"/>
                </a:solidFill>
                <a:latin typeface="Aptos"/>
              </a:rPr>
              <a:t>MinIO enterprise o Alfresco CE 23 — astrazione CMIS/S3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58368" y="4818888"/>
            <a:ext cx="1536192" cy="402336"/>
          </a:xfrm>
          <a:prstGeom prst="rect">
            <a:avLst/>
          </a:prstGeom>
          <a:solidFill>
            <a:srgbClr val="F7F3EE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13232" y="4864608"/>
            <a:ext cx="1463040" cy="33832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00" b="1">
                <a:solidFill>
                  <a:srgbClr val="183554"/>
                </a:solidFill>
                <a:latin typeface="Aptos"/>
              </a:rPr>
              <a:t>Deploy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212848" y="4818888"/>
            <a:ext cx="1682496" cy="402336"/>
          </a:xfrm>
          <a:prstGeom prst="rect">
            <a:avLst/>
          </a:prstGeom>
          <a:solidFill>
            <a:srgbClr val="F7F3EE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267712" y="4864608"/>
            <a:ext cx="1609344" cy="33832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00" b="0">
                <a:solidFill>
                  <a:srgbClr val="0B1F33"/>
                </a:solidFill>
                <a:latin typeface="Aptos"/>
              </a:rPr>
              <a:t>Container + Kubernetes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913632" y="4818888"/>
            <a:ext cx="2121408" cy="402336"/>
          </a:xfrm>
          <a:prstGeom prst="rect">
            <a:avLst/>
          </a:prstGeom>
          <a:solidFill>
            <a:srgbClr val="F7F3EE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968496" y="4864608"/>
            <a:ext cx="2048256" cy="33832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00" b="0">
                <a:solidFill>
                  <a:srgbClr val="228B57"/>
                </a:solidFill>
                <a:latin typeface="Aptos"/>
              </a:rPr>
              <a:t>✅ Docker Compose single-node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053328" y="4818888"/>
            <a:ext cx="4279392" cy="402336"/>
          </a:xfrm>
          <a:prstGeom prst="rect">
            <a:avLst/>
          </a:prstGeom>
          <a:solidFill>
            <a:srgbClr val="F7F3EE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108192" y="4864608"/>
            <a:ext cx="4206240" cy="33832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00" b="0">
                <a:solidFill>
                  <a:srgbClr val="2D7A7A"/>
                </a:solidFill>
                <a:latin typeface="Aptos"/>
              </a:rPr>
              <a:t>Kubernetes/OKD multi-AZ — HPA, ArgoCD GitOps, DR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58368" y="5221224"/>
            <a:ext cx="1536192" cy="402336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13232" y="5266944"/>
            <a:ext cx="1463040" cy="33832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00" b="1">
                <a:solidFill>
                  <a:srgbClr val="183554"/>
                </a:solidFill>
                <a:latin typeface="Aptos"/>
              </a:rPr>
              <a:t>Protocolli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212848" y="5221224"/>
            <a:ext cx="1682496" cy="402336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267712" y="5266944"/>
            <a:ext cx="1609344" cy="33832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00" b="0">
                <a:solidFill>
                  <a:srgbClr val="0B1F33"/>
                </a:solidFill>
                <a:latin typeface="Aptos"/>
              </a:rPr>
              <a:t>REST, SFTP, MQ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913632" y="5221224"/>
            <a:ext cx="2121408" cy="402336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968496" y="5266944"/>
            <a:ext cx="2048256" cy="33832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00" b="0">
                <a:solidFill>
                  <a:srgbClr val="B46414"/>
                </a:solidFill>
                <a:latin typeface="Aptos"/>
              </a:rPr>
              <a:t>⚠️ Stub BPM esterno (solo REST base)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053328" y="5221224"/>
            <a:ext cx="4279392" cy="402336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108192" y="5266944"/>
            <a:ext cx="4206240" cy="33832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00" b="0">
                <a:solidFill>
                  <a:srgbClr val="2D7A7A"/>
                </a:solidFill>
                <a:latin typeface="Aptos"/>
              </a:rPr>
              <a:t>Apache Camel 4 EIP — connettori REST/SFTP/MQ/SOAP nativi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58368" y="5623560"/>
            <a:ext cx="1536192" cy="402336"/>
          </a:xfrm>
          <a:prstGeom prst="rect">
            <a:avLst/>
          </a:prstGeom>
          <a:solidFill>
            <a:srgbClr val="F7F3EE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13232" y="5669280"/>
            <a:ext cx="1463040" cy="33832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00" b="1">
                <a:solidFill>
                  <a:srgbClr val="183554"/>
                </a:solidFill>
                <a:latin typeface="Aptos"/>
              </a:rPr>
              <a:t>Cache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212848" y="5623560"/>
            <a:ext cx="1682496" cy="402336"/>
          </a:xfrm>
          <a:prstGeom prst="rect">
            <a:avLst/>
          </a:prstGeom>
          <a:solidFill>
            <a:srgbClr val="F7F3EE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267712" y="5669280"/>
            <a:ext cx="1609344" cy="33832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00" b="0">
                <a:solidFill>
                  <a:srgbClr val="0B1F33"/>
                </a:solidFill>
                <a:latin typeface="Aptos"/>
              </a:rPr>
              <a:t>Performance / pluggable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913632" y="5623560"/>
            <a:ext cx="2121408" cy="402336"/>
          </a:xfrm>
          <a:prstGeom prst="rect">
            <a:avLst/>
          </a:prstGeom>
          <a:solidFill>
            <a:srgbClr val="F7F3EE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968496" y="5669280"/>
            <a:ext cx="2048256" cy="33832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00" b="0">
                <a:solidFill>
                  <a:srgbClr val="B46414"/>
                </a:solidFill>
                <a:latin typeface="Aptos"/>
              </a:rPr>
              <a:t>⚠️ Assente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053328" y="5623560"/>
            <a:ext cx="4279392" cy="402336"/>
          </a:xfrm>
          <a:prstGeom prst="rect">
            <a:avLst/>
          </a:prstGeom>
          <a:solidFill>
            <a:srgbClr val="F7F3EE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108192" y="5669280"/>
            <a:ext cx="4206240" cy="33832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00" b="0">
                <a:solidFill>
                  <a:srgbClr val="2D7A7A"/>
                </a:solidFill>
                <a:latin typeface="Aptos"/>
              </a:rPr>
              <a:t>Valkey / Redis 7.x — sessioni, rate limiting, lock sub-ms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58368" y="6025896"/>
            <a:ext cx="1536192" cy="402336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13232" y="6071616"/>
            <a:ext cx="1463040" cy="33832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00" b="1">
                <a:solidFill>
                  <a:srgbClr val="183554"/>
                </a:solidFill>
                <a:latin typeface="Aptos"/>
              </a:rPr>
              <a:t>Framework OSS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212848" y="6025896"/>
            <a:ext cx="1682496" cy="402336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2267712" y="6071616"/>
            <a:ext cx="1609344" cy="33832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00" b="0">
                <a:solidFill>
                  <a:srgbClr val="0B1F33"/>
                </a:solidFill>
                <a:latin typeface="Aptos"/>
              </a:rPr>
              <a:t>OSS maturi con LTS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913632" y="6025896"/>
            <a:ext cx="2121408" cy="402336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3968496" y="6071616"/>
            <a:ext cx="2048256" cy="33832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00" b="0">
                <a:solidFill>
                  <a:srgbClr val="228B57"/>
                </a:solidFill>
                <a:latin typeface="Aptos"/>
              </a:rPr>
              <a:t>✅ Tutti i componenti OSS con LTS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053328" y="6025896"/>
            <a:ext cx="4279392" cy="402336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108192" y="6071616"/>
            <a:ext cx="4206240" cy="33832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00" b="0">
                <a:solidFill>
                  <a:srgbClr val="2D7A7A"/>
                </a:solidFill>
                <a:latin typeface="Aptos"/>
              </a:rPr>
              <a:t>Catalogo: solo progetti LTS + community verificata annuale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58368" y="6144768"/>
            <a:ext cx="5669280" cy="219456"/>
          </a:xfrm>
          <a:prstGeom prst="rect">
            <a:avLst/>
          </a:prstGeom>
          <a:solidFill>
            <a:srgbClr val="F7F3EE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749808" y="6153912"/>
            <a:ext cx="5394960" cy="164592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900" b="0">
                <a:solidFill>
                  <a:srgbClr val="183554"/>
                </a:solidFill>
                <a:latin typeface="Aptos"/>
              </a:rPr>
              <a:t>✅ Componente attivo nella POC     ⚠️ Semplificato o assente nella POC — presente nell'enterprise target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58368" y="6446520"/>
            <a:ext cx="10094976" cy="338328"/>
          </a:xfrm>
          <a:prstGeom prst="rect">
            <a:avLst/>
          </a:prstGeom>
          <a:solidFill>
            <a:srgbClr val="DEEAF5"/>
          </a:solidFill>
          <a:ln>
            <a:solidFill>
              <a:srgbClr val="DE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804672" y="6492240"/>
            <a:ext cx="9784080" cy="237744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00" b="1">
                <a:solidFill>
                  <a:srgbClr val="183554"/>
                </a:solidFill>
                <a:latin typeface="Aptos"/>
              </a:rPr>
              <a:t>Tutti i vincoli dichiarati da Poste sono rispettati nell'architettura enterprise target — la POC semplifica il runtime, non i contratti.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47472"/>
            <a:ext cx="1417320" cy="384048"/>
          </a:xfrm>
          <a:prstGeom prst="rect">
            <a:avLst/>
          </a:prstGeom>
          <a:solidFill>
            <a:srgbClr val="D52B1E"/>
          </a:solidFill>
          <a:ln>
            <a:solidFill>
              <a:srgbClr val="D52B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93192"/>
            <a:ext cx="1188720" cy="256032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9189720" y="411480"/>
            <a:ext cx="1024128" cy="274320"/>
          </a:xfrm>
          <a:prstGeom prst="rect">
            <a:avLst/>
          </a:prstGeom>
          <a:solidFill>
            <a:srgbClr val="183554"/>
          </a:solidFill>
          <a:ln>
            <a:solidFill>
              <a:srgbClr val="1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272016" y="429768"/>
            <a:ext cx="868680" cy="20116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POSTE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68680"/>
            <a:ext cx="8686800" cy="530352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2400" b="1">
                <a:solidFill>
                  <a:srgbClr val="0B1F33"/>
                </a:solidFill>
                <a:latin typeface="Aptos Display"/>
              </a:rPr>
              <a:t>Evoluzione layer per layer — da Docker Compose a Kubernetes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463040"/>
            <a:ext cx="2011680" cy="45720"/>
          </a:xfrm>
          <a:prstGeom prst="rect">
            <a:avLst/>
          </a:prstGeom>
          <a:solidFill>
            <a:srgbClr val="D52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561320" y="0"/>
            <a:ext cx="1627632" cy="6858000"/>
          </a:xfrm>
          <a:prstGeom prst="rect">
            <a:avLst/>
          </a:prstGeom>
          <a:solidFill>
            <a:srgbClr val="DE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600200"/>
            <a:ext cx="1627632" cy="342900"/>
          </a:xfrm>
          <a:prstGeom prst="rect">
            <a:avLst/>
          </a:prstGeom>
          <a:solidFill>
            <a:srgbClr val="183554"/>
          </a:solidFill>
          <a:ln>
            <a:solidFill>
              <a:srgbClr val="1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645920"/>
            <a:ext cx="1554480" cy="278892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Layer / Componente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04288" y="1600200"/>
            <a:ext cx="2542032" cy="342900"/>
          </a:xfrm>
          <a:prstGeom prst="rect">
            <a:avLst/>
          </a:prstGeom>
          <a:solidFill>
            <a:srgbClr val="183554"/>
          </a:solidFill>
          <a:ln>
            <a:solidFill>
              <a:srgbClr val="1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59152" y="1645920"/>
            <a:ext cx="2468880" cy="278892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POC attuale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64608" y="1600200"/>
            <a:ext cx="5925312" cy="342900"/>
          </a:xfrm>
          <a:prstGeom prst="rect">
            <a:avLst/>
          </a:prstGeom>
          <a:solidFill>
            <a:srgbClr val="183554"/>
          </a:solidFill>
          <a:ln>
            <a:solidFill>
              <a:srgbClr val="1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19472" y="1645920"/>
            <a:ext cx="5852160" cy="278892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Aggiunto / evoluto in produzione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1943100"/>
            <a:ext cx="1627632" cy="342900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1988820"/>
            <a:ext cx="1554480" cy="278892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00" b="1">
                <a:solidFill>
                  <a:srgbClr val="183554"/>
                </a:solidFill>
                <a:latin typeface="Aptos"/>
              </a:rPr>
              <a:t>L1 · Presentation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04288" y="1943100"/>
            <a:ext cx="2542032" cy="342900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59152" y="1988820"/>
            <a:ext cx="2468880" cy="278892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00" b="0">
                <a:solidFill>
                  <a:srgbClr val="228B57"/>
                </a:solidFill>
                <a:latin typeface="Aptos"/>
              </a:rPr>
              <a:t>React 19 + Vite + reverse proxy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64608" y="1943100"/>
            <a:ext cx="5925312" cy="342900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19472" y="1988820"/>
            <a:ext cx="5852160" cy="278892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00" b="0">
                <a:solidFill>
                  <a:srgbClr val="2D7A7A"/>
                </a:solidFill>
                <a:latin typeface="Aptos"/>
              </a:rPr>
              <a:t>+ Apache APISIX 3.x: rate limiting, policy auth centralizzate, routing enterprise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2286000"/>
            <a:ext cx="1627632" cy="342900"/>
          </a:xfrm>
          <a:prstGeom prst="rect">
            <a:avLst/>
          </a:prstGeom>
          <a:solidFill>
            <a:srgbClr val="F7F3EE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2331720"/>
            <a:ext cx="1554480" cy="278892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00" b="1">
                <a:solidFill>
                  <a:srgbClr val="183554"/>
                </a:solidFill>
                <a:latin typeface="Aptos"/>
              </a:rPr>
              <a:t>L1 · IAM  ⚠️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04288" y="2286000"/>
            <a:ext cx="2542032" cy="342900"/>
          </a:xfrm>
          <a:prstGeom prst="rect">
            <a:avLst/>
          </a:prstGeom>
          <a:solidFill>
            <a:srgbClr val="F7F3EE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59152" y="2331720"/>
            <a:ext cx="2468880" cy="278892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00" b="0">
                <a:solidFill>
                  <a:srgbClr val="B46414"/>
                </a:solidFill>
                <a:latin typeface="Aptos"/>
              </a:rPr>
              <a:t>Stub — nessuna autenticazione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64608" y="2286000"/>
            <a:ext cx="5925312" cy="342900"/>
          </a:xfrm>
          <a:prstGeom prst="rect">
            <a:avLst/>
          </a:prstGeom>
          <a:solidFill>
            <a:srgbClr val="F7F3EE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19472" y="2331720"/>
            <a:ext cx="5852160" cy="278892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00" b="0">
                <a:solidFill>
                  <a:srgbClr val="2D7A7A"/>
                </a:solidFill>
                <a:latin typeface="Aptos"/>
              </a:rPr>
              <a:t>+ Keycloak 24: AD/Entra ID federated, OAuth 2.0, OIDC, RBAC gerarchico, SSO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2628900"/>
            <a:ext cx="1627632" cy="342900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2674620"/>
            <a:ext cx="1554480" cy="278892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00" b="1">
                <a:solidFill>
                  <a:srgbClr val="183554"/>
                </a:solidFill>
                <a:latin typeface="Aptos"/>
              </a:rPr>
              <a:t>L2 · BPM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304288" y="2628900"/>
            <a:ext cx="2542032" cy="342900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359152" y="2674620"/>
            <a:ext cx="2468880" cy="278892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00" b="0">
                <a:solidFill>
                  <a:srgbClr val="228B57"/>
                </a:solidFill>
                <a:latin typeface="Aptos"/>
              </a:rPr>
              <a:t>Kogito embedded in Spring Boot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64608" y="2628900"/>
            <a:ext cx="5925312" cy="342900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19472" y="2674620"/>
            <a:ext cx="5852160" cy="278892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00" b="0">
                <a:solidFill>
                  <a:srgbClr val="2D7A7A"/>
                </a:solidFill>
                <a:latin typeface="Aptos"/>
              </a:rPr>
              <a:t>+ Kogito Quarkus standalone + HA  [ + Flowable 7 se il processo viene internalizzato ]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2971800"/>
            <a:ext cx="1627632" cy="342900"/>
          </a:xfrm>
          <a:prstGeom prst="rect">
            <a:avLst/>
          </a:prstGeom>
          <a:solidFill>
            <a:srgbClr val="F7F3EE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3232" y="3017520"/>
            <a:ext cx="1554480" cy="278892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00" b="1">
                <a:solidFill>
                  <a:srgbClr val="183554"/>
                </a:solidFill>
                <a:latin typeface="Aptos"/>
              </a:rPr>
              <a:t>L3 · Decision  ⚠️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304288" y="2971800"/>
            <a:ext cx="2542032" cy="342900"/>
          </a:xfrm>
          <a:prstGeom prst="rect">
            <a:avLst/>
          </a:prstGeom>
          <a:solidFill>
            <a:srgbClr val="F7F3EE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359152" y="3017520"/>
            <a:ext cx="2468880" cy="278892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00" b="0">
                <a:solidFill>
                  <a:srgbClr val="B46414"/>
                </a:solidFill>
                <a:latin typeface="Aptos"/>
              </a:rPr>
              <a:t>Non attivo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864608" y="2971800"/>
            <a:ext cx="5925312" cy="342900"/>
          </a:xfrm>
          <a:prstGeom prst="rect">
            <a:avLst/>
          </a:prstGeom>
          <a:solidFill>
            <a:srgbClr val="F7F3EE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19472" y="3017520"/>
            <a:ext cx="5852160" cy="278892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00" b="0">
                <a:solidFill>
                  <a:srgbClr val="2D7A7A"/>
                </a:solidFill>
                <a:latin typeface="Aptos"/>
              </a:rPr>
              <a:t>+ Drools 8 / KIE Server: automatismi esiti, criteri BO, DMN 1.4, hot-reload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3314700"/>
            <a:ext cx="1627632" cy="342900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3232" y="3360420"/>
            <a:ext cx="1554480" cy="278892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00" b="1">
                <a:solidFill>
                  <a:srgbClr val="183554"/>
                </a:solidFill>
                <a:latin typeface="Aptos"/>
              </a:rPr>
              <a:t>L4 · AI  ⚠️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304288" y="3314700"/>
            <a:ext cx="2542032" cy="342900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359152" y="3360420"/>
            <a:ext cx="2468880" cy="278892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00" b="0">
                <a:solidFill>
                  <a:srgbClr val="B46414"/>
                </a:solidFill>
                <a:latin typeface="Aptos"/>
              </a:rPr>
              <a:t>Non attivo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864608" y="3314700"/>
            <a:ext cx="5925312" cy="342900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19472" y="3360420"/>
            <a:ext cx="5852160" cy="278892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00" b="0">
                <a:solidFill>
                  <a:srgbClr val="2D7A7A"/>
                </a:solidFill>
                <a:latin typeface="Aptos"/>
              </a:rPr>
              <a:t>+ Slot attivabile: Ollama (LLM) · LangGraph (agenti) · Qdrant (RAG) — su caso d'uso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" y="3657600"/>
            <a:ext cx="1627632" cy="342900"/>
          </a:xfrm>
          <a:prstGeom prst="rect">
            <a:avLst/>
          </a:prstGeom>
          <a:solidFill>
            <a:srgbClr val="F7F3EE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13232" y="3703320"/>
            <a:ext cx="1554480" cy="278892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00" b="1">
                <a:solidFill>
                  <a:srgbClr val="183554"/>
                </a:solidFill>
                <a:latin typeface="Aptos"/>
              </a:rPr>
              <a:t>L5 · Document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304288" y="3657600"/>
            <a:ext cx="2542032" cy="342900"/>
          </a:xfrm>
          <a:prstGeom prst="rect">
            <a:avLst/>
          </a:prstGeom>
          <a:solidFill>
            <a:srgbClr val="F7F3EE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359152" y="3703320"/>
            <a:ext cx="2468880" cy="278892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00" b="0">
                <a:solidFill>
                  <a:srgbClr val="228B57"/>
                </a:solidFill>
                <a:latin typeface="Aptos"/>
              </a:rPr>
              <a:t>MinIO locale (S3-compatible)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864608" y="3657600"/>
            <a:ext cx="5925312" cy="342900"/>
          </a:xfrm>
          <a:prstGeom prst="rect">
            <a:avLst/>
          </a:prstGeom>
          <a:solidFill>
            <a:srgbClr val="F7F3EE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19472" y="3703320"/>
            <a:ext cx="5852160" cy="278892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00" b="0">
                <a:solidFill>
                  <a:srgbClr val="2D7A7A"/>
                </a:solidFill>
                <a:latin typeface="Aptos"/>
              </a:rPr>
              <a:t>+ Alfresco CE 23: ECM, CMIS 1.1, versioning, OCR — MinIO rimane per binari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58368" y="4000500"/>
            <a:ext cx="1627632" cy="342900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3232" y="4046220"/>
            <a:ext cx="1554480" cy="278892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00" b="1">
                <a:solidFill>
                  <a:srgbClr val="183554"/>
                </a:solidFill>
                <a:latin typeface="Aptos"/>
              </a:rPr>
              <a:t>L6 · Integration  ⚠️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304288" y="4000500"/>
            <a:ext cx="2542032" cy="342900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359152" y="4046220"/>
            <a:ext cx="2468880" cy="278892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00" b="0">
                <a:solidFill>
                  <a:srgbClr val="B46414"/>
                </a:solidFill>
                <a:latin typeface="Aptos"/>
              </a:rPr>
              <a:t>Stub BPM esterno (solo REST base)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864608" y="4000500"/>
            <a:ext cx="5925312" cy="342900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919472" y="4046220"/>
            <a:ext cx="5852160" cy="278892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00" b="0">
                <a:solidFill>
                  <a:srgbClr val="2D7A7A"/>
                </a:solidFill>
                <a:latin typeface="Aptos"/>
              </a:rPr>
              <a:t>+ Apache Camel 4 EIP: REST/SFTP/MQ/SOAP verso tutti i sistemi Poste enterprise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8368" y="4343400"/>
            <a:ext cx="1627632" cy="342900"/>
          </a:xfrm>
          <a:prstGeom prst="rect">
            <a:avLst/>
          </a:prstGeom>
          <a:solidFill>
            <a:srgbClr val="F7F3EE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13232" y="4389120"/>
            <a:ext cx="1554480" cy="278892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00" b="1">
                <a:solidFill>
                  <a:srgbClr val="183554"/>
                </a:solidFill>
                <a:latin typeface="Aptos"/>
              </a:rPr>
              <a:t>L6 · Streaming  ⚠️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304288" y="4343400"/>
            <a:ext cx="2542032" cy="342900"/>
          </a:xfrm>
          <a:prstGeom prst="rect">
            <a:avLst/>
          </a:prstGeom>
          <a:solidFill>
            <a:srgbClr val="F7F3EE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359152" y="4389120"/>
            <a:ext cx="2468880" cy="278892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00" b="0">
                <a:solidFill>
                  <a:srgbClr val="B46414"/>
                </a:solidFill>
                <a:latin typeface="Aptos"/>
              </a:rPr>
              <a:t>Non attivo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864608" y="4343400"/>
            <a:ext cx="5925312" cy="342900"/>
          </a:xfrm>
          <a:prstGeom prst="rect">
            <a:avLst/>
          </a:prstGeom>
          <a:solidFill>
            <a:srgbClr val="F7F3EE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919472" y="4389120"/>
            <a:ext cx="5852160" cy="278892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00" b="0">
                <a:solidFill>
                  <a:srgbClr val="2D7A7A"/>
                </a:solidFill>
                <a:latin typeface="Aptos"/>
              </a:rPr>
              <a:t>+ Apache Kafka 3.7 KRaft: backbone eventi, multi-consumer, schema registry, replay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58368" y="4686300"/>
            <a:ext cx="1627632" cy="342900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13232" y="4732020"/>
            <a:ext cx="1554480" cy="278892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00" b="1">
                <a:solidFill>
                  <a:srgbClr val="183554"/>
                </a:solidFill>
                <a:latin typeface="Aptos"/>
              </a:rPr>
              <a:t>L7 · Process Mining ⚠️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304288" y="4686300"/>
            <a:ext cx="2542032" cy="342900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359152" y="4732020"/>
            <a:ext cx="2468880" cy="278892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00" b="0">
                <a:solidFill>
                  <a:srgbClr val="0B1F33"/>
                </a:solidFill>
                <a:latin typeface="Aptos"/>
              </a:rPr>
              <a:t>KIE Console (monitoraggio base)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864608" y="4686300"/>
            <a:ext cx="5925312" cy="342900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919472" y="4732020"/>
            <a:ext cx="5852160" cy="278892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00" b="0">
                <a:solidFill>
                  <a:srgbClr val="2D7A7A"/>
                </a:solidFill>
                <a:latin typeface="Aptos"/>
              </a:rPr>
              <a:t>+ PM4Py 2.7 + Apache Superset: KPI, SLA breach, conformance, dashboard BI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58368" y="5029200"/>
            <a:ext cx="1627632" cy="342900"/>
          </a:xfrm>
          <a:prstGeom prst="rect">
            <a:avLst/>
          </a:prstGeom>
          <a:solidFill>
            <a:srgbClr val="F7F3EE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13232" y="5074920"/>
            <a:ext cx="1554480" cy="278892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00" b="1">
                <a:solidFill>
                  <a:srgbClr val="183554"/>
                </a:solidFill>
                <a:latin typeface="Aptos"/>
              </a:rPr>
              <a:t>L8 · Sicurezza  ⚠️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304288" y="5029200"/>
            <a:ext cx="2542032" cy="342900"/>
          </a:xfrm>
          <a:prstGeom prst="rect">
            <a:avLst/>
          </a:prstGeom>
          <a:solidFill>
            <a:srgbClr val="F7F3EE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359152" y="5074920"/>
            <a:ext cx="2468880" cy="278892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00" b="0">
                <a:solidFill>
                  <a:srgbClr val="B46414"/>
                </a:solidFill>
                <a:latin typeface="Aptos"/>
              </a:rPr>
              <a:t>Nessuna (rete locale isolata)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864608" y="5029200"/>
            <a:ext cx="5925312" cy="342900"/>
          </a:xfrm>
          <a:prstGeom prst="rect">
            <a:avLst/>
          </a:prstGeom>
          <a:solidFill>
            <a:srgbClr val="F7F3EE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919472" y="5074920"/>
            <a:ext cx="5852160" cy="278892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00" b="0">
                <a:solidFill>
                  <a:srgbClr val="2D7A7A"/>
                </a:solidFill>
                <a:latin typeface="Aptos"/>
              </a:rPr>
              <a:t>+ mTLS · OpenBao (PKI/segreti) · OAuth 2.0+TLS 1.3 · SAST/DAST CI · SBOM (GDPR+DORA)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58368" y="5372100"/>
            <a:ext cx="1627632" cy="342900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13232" y="5417820"/>
            <a:ext cx="1554480" cy="278892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00" b="1">
                <a:solidFill>
                  <a:srgbClr val="183554"/>
                </a:solidFill>
                <a:latin typeface="Aptos"/>
              </a:rPr>
              <a:t>L8 · Infrastruttura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304288" y="5372100"/>
            <a:ext cx="2542032" cy="342900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359152" y="5417820"/>
            <a:ext cx="2468880" cy="278892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00" b="0">
                <a:solidFill>
                  <a:srgbClr val="228B57"/>
                </a:solidFill>
                <a:latin typeface="Aptos"/>
              </a:rPr>
              <a:t>Docker Compose single-node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864608" y="5372100"/>
            <a:ext cx="5925312" cy="342900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919472" y="5417820"/>
            <a:ext cx="5852160" cy="278892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00" b="0">
                <a:solidFill>
                  <a:srgbClr val="2D7A7A"/>
                </a:solidFill>
                <a:latin typeface="Aptos"/>
              </a:rPr>
              <a:t>+ Kubernetes/OKD multi-AZ · ArgoCD GitOps · Cilium · RTO &lt; 4h · RPO &lt; 1h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58368" y="5715000"/>
            <a:ext cx="1627632" cy="342900"/>
          </a:xfrm>
          <a:prstGeom prst="rect">
            <a:avLst/>
          </a:prstGeom>
          <a:solidFill>
            <a:srgbClr val="F7F3EE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13232" y="5760720"/>
            <a:ext cx="1554480" cy="278892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00" b="1">
                <a:solidFill>
                  <a:srgbClr val="183554"/>
                </a:solidFill>
                <a:latin typeface="Aptos"/>
              </a:rPr>
              <a:t>DB · MariaDB  ✅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304288" y="5715000"/>
            <a:ext cx="2542032" cy="342900"/>
          </a:xfrm>
          <a:prstGeom prst="rect">
            <a:avLst/>
          </a:prstGeom>
          <a:solidFill>
            <a:srgbClr val="F7F3EE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359152" y="5760720"/>
            <a:ext cx="2468880" cy="278892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00" b="0">
                <a:solidFill>
                  <a:srgbClr val="228B57"/>
                </a:solidFill>
                <a:latin typeface="Aptos"/>
              </a:rPr>
              <a:t>MariaDB :3308 — schema anc / kogito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864608" y="5715000"/>
            <a:ext cx="5925312" cy="342900"/>
          </a:xfrm>
          <a:prstGeom prst="rect">
            <a:avLst/>
          </a:prstGeom>
          <a:solidFill>
            <a:srgbClr val="F7F3EE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919472" y="5760720"/>
            <a:ext cx="5852160" cy="278892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00" b="0">
                <a:solidFill>
                  <a:srgbClr val="2D7A7A"/>
                </a:solidFill>
                <a:latin typeface="Aptos"/>
              </a:rPr>
              <a:t>+ MariaDB HA Galera: replica multi-nodo, backup ≥ 90 gg, failover automatico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58368" y="6057900"/>
            <a:ext cx="1627632" cy="342900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13232" y="6103620"/>
            <a:ext cx="1554480" cy="278892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00" b="1">
                <a:solidFill>
                  <a:srgbClr val="183554"/>
                </a:solidFill>
                <a:latin typeface="Aptos"/>
              </a:rPr>
              <a:t>DB · Cache  ⚠️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304288" y="6057900"/>
            <a:ext cx="2542032" cy="342900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359152" y="6103620"/>
            <a:ext cx="2468880" cy="278892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00" b="0">
                <a:solidFill>
                  <a:srgbClr val="B46414"/>
                </a:solidFill>
                <a:latin typeface="Aptos"/>
              </a:rPr>
              <a:t>Non attivo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864608" y="6057900"/>
            <a:ext cx="5925312" cy="342900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919472" y="6103620"/>
            <a:ext cx="5852160" cy="278892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00" b="0">
                <a:solidFill>
                  <a:srgbClr val="2D7A7A"/>
                </a:solidFill>
                <a:latin typeface="Aptos"/>
              </a:rPr>
              <a:t>+ Valkey / Redis 7.x: sessioni distribuite, rate limiting, lock sub-millisecondo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58368" y="6400800"/>
            <a:ext cx="1627632" cy="342900"/>
          </a:xfrm>
          <a:prstGeom prst="rect">
            <a:avLst/>
          </a:prstGeom>
          <a:solidFill>
            <a:srgbClr val="F7F3EE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13232" y="6446520"/>
            <a:ext cx="1554480" cy="278892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00" b="1">
                <a:solidFill>
                  <a:srgbClr val="183554"/>
                </a:solidFill>
                <a:latin typeface="Aptos"/>
              </a:rPr>
              <a:t>Backend · Java  ✅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304288" y="6400800"/>
            <a:ext cx="2542032" cy="342900"/>
          </a:xfrm>
          <a:prstGeom prst="rect">
            <a:avLst/>
          </a:prstGeom>
          <a:solidFill>
            <a:srgbClr val="F7F3EE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2359152" y="6446520"/>
            <a:ext cx="2468880" cy="278892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00" b="0">
                <a:solidFill>
                  <a:srgbClr val="228B57"/>
                </a:solidFill>
                <a:latin typeface="Aptos"/>
              </a:rPr>
              <a:t>Java 21 LTS — Spring Boot 3.3+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864608" y="6400800"/>
            <a:ext cx="5925312" cy="342900"/>
          </a:xfrm>
          <a:prstGeom prst="rect">
            <a:avLst/>
          </a:prstGeom>
          <a:solidFill>
            <a:srgbClr val="F7F3EE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919472" y="6446520"/>
            <a:ext cx="5852160" cy="278892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00" b="0">
                <a:solidFill>
                  <a:srgbClr val="228B57"/>
                </a:solidFill>
                <a:latin typeface="Aptos"/>
              </a:rPr>
              <a:t>Invariato — stesso stack. Virtual Threads attivi. Scalabilità verticale e orizzontale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58368" y="6446520"/>
            <a:ext cx="10094976" cy="338328"/>
          </a:xfrm>
          <a:prstGeom prst="rect">
            <a:avLst/>
          </a:prstGeom>
          <a:solidFill>
            <a:srgbClr val="DEEAF5"/>
          </a:solidFill>
          <a:ln>
            <a:solidFill>
              <a:srgbClr val="DE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04672" y="6492240"/>
            <a:ext cx="9784080" cy="237744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00" b="1">
                <a:solidFill>
                  <a:srgbClr val="183554"/>
                </a:solidFill>
                <a:latin typeface="Aptos"/>
              </a:rPr>
              <a:t>⚠️ Semplificato o assente nella POC   ✅ Attivo nella POC   |   Ogni aggiunta non richiede riscrittura — evoluzione per industrializzazione progressiva.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47472"/>
            <a:ext cx="1417320" cy="384048"/>
          </a:xfrm>
          <a:prstGeom prst="rect">
            <a:avLst/>
          </a:prstGeom>
          <a:solidFill>
            <a:srgbClr val="D52B1E"/>
          </a:solidFill>
          <a:ln>
            <a:solidFill>
              <a:srgbClr val="D52B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93192"/>
            <a:ext cx="1188720" cy="256032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9189720" y="411480"/>
            <a:ext cx="1024128" cy="274320"/>
          </a:xfrm>
          <a:prstGeom prst="rect">
            <a:avLst/>
          </a:prstGeom>
          <a:solidFill>
            <a:srgbClr val="183554"/>
          </a:solidFill>
          <a:ln>
            <a:solidFill>
              <a:srgbClr val="1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272016" y="429768"/>
            <a:ext cx="868680" cy="20116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POSTE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68680"/>
            <a:ext cx="8686800" cy="530352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2400" b="1">
                <a:solidFill>
                  <a:srgbClr val="0B1F33"/>
                </a:solidFill>
                <a:latin typeface="Aptos Display"/>
              </a:rPr>
              <a:t>Architettura Enterprise Target — Tutti i Vincoli Poste Rispettati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463040"/>
            <a:ext cx="2011680" cy="45720"/>
          </a:xfrm>
          <a:prstGeom prst="rect">
            <a:avLst/>
          </a:prstGeom>
          <a:solidFill>
            <a:srgbClr val="D52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561320" y="0"/>
            <a:ext cx="1627632" cy="6858000"/>
          </a:xfrm>
          <a:prstGeom prst="rect">
            <a:avLst/>
          </a:prstGeom>
          <a:solidFill>
            <a:srgbClr val="DE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600200"/>
            <a:ext cx="2029968" cy="544068"/>
          </a:xfrm>
          <a:prstGeom prst="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664208"/>
            <a:ext cx="1920240" cy="45262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L1 · Presentation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24912" y="1600200"/>
            <a:ext cx="5230368" cy="544068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98064" y="1664208"/>
            <a:ext cx="5074920" cy="45262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000" b="0">
                <a:solidFill>
                  <a:srgbClr val="0B1F33"/>
                </a:solidFill>
                <a:latin typeface="Aptos"/>
              </a:rPr>
              <a:t>React 19 + TS  [React]  |  Apache APISIX 3.x  |  Keycloak 24 + AD/Entra ID  [IAM · RBAC gerarchico]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91856" y="1600200"/>
            <a:ext cx="3456432" cy="544068"/>
          </a:xfrm>
          <a:prstGeom prst="rect">
            <a:avLst/>
          </a:prstGeom>
          <a:solidFill>
            <a:srgbClr val="DEEAF5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65008" y="1664208"/>
            <a:ext cx="3291840" cy="45262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000" b="0">
                <a:solidFill>
                  <a:srgbClr val="183554"/>
                </a:solidFill>
                <a:latin typeface="Aptos"/>
              </a:rPr>
              <a:t>HTTP/REST + OAuth2/OIDC + JWT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144268"/>
            <a:ext cx="2029968" cy="544068"/>
          </a:xfrm>
          <a:prstGeom prst="rect">
            <a:avLst/>
          </a:prstGeom>
          <a:solidFill>
            <a:srgbClr val="D52B1E"/>
          </a:solidFill>
          <a:ln>
            <a:solidFill>
              <a:srgbClr val="D52B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2208276"/>
            <a:ext cx="1920240" cy="45262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L2 · BPM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24912" y="2144268"/>
            <a:ext cx="5230368" cy="544068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98064" y="2208276"/>
            <a:ext cx="5074920" cy="45262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000" b="0">
                <a:solidFill>
                  <a:srgbClr val="0B1F33"/>
                </a:solidFill>
                <a:latin typeface="Aptos"/>
              </a:rPr>
              <a:t>Kogito Quarkus standalone HA  |  Spring Boot 3.3+ / Java 21 LTS  [Java/OpenJDK]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91856" y="2144268"/>
            <a:ext cx="3456432" cy="544068"/>
          </a:xfrm>
          <a:prstGeom prst="rect">
            <a:avLst/>
          </a:prstGeom>
          <a:solidFill>
            <a:srgbClr val="DEEAF5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65008" y="2208276"/>
            <a:ext cx="3291840" cy="45262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000" b="0">
                <a:solidFill>
                  <a:srgbClr val="183554"/>
                </a:solidFill>
                <a:latin typeface="Aptos"/>
              </a:rPr>
              <a:t>REST + Kafka eventi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2688336"/>
            <a:ext cx="2029968" cy="544068"/>
          </a:xfrm>
          <a:prstGeom prst="rect">
            <a:avLst/>
          </a:prstGeom>
          <a:solidFill>
            <a:srgbClr val="183554"/>
          </a:solidFill>
          <a:ln>
            <a:solidFill>
              <a:srgbClr val="1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2752344"/>
            <a:ext cx="1920240" cy="45262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L3 · Decision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24912" y="2688336"/>
            <a:ext cx="5230368" cy="544068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98064" y="2752344"/>
            <a:ext cx="5074920" cy="45262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000" b="0">
                <a:solidFill>
                  <a:srgbClr val="0B1F33"/>
                </a:solidFill>
                <a:latin typeface="Aptos"/>
              </a:rPr>
              <a:t>Drools 8 / KIE Server  |  DMN 1.4, hot-reload  |  Automatismi esiti e criteri backoffice ANC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91856" y="2688336"/>
            <a:ext cx="3456432" cy="544068"/>
          </a:xfrm>
          <a:prstGeom prst="rect">
            <a:avLst/>
          </a:prstGeom>
          <a:solidFill>
            <a:srgbClr val="DEEAF5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65008" y="2752344"/>
            <a:ext cx="3291840" cy="45262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000" b="0">
                <a:solidFill>
                  <a:srgbClr val="183554"/>
                </a:solidFill>
                <a:latin typeface="Aptos"/>
              </a:rPr>
              <a:t>REST + DMN standard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3232404"/>
            <a:ext cx="2029968" cy="544068"/>
          </a:xfrm>
          <a:prstGeom prst="rect">
            <a:avLst/>
          </a:prstGeom>
          <a:solidFill>
            <a:srgbClr val="2D7A7A"/>
          </a:solidFill>
          <a:ln>
            <a:solidFill>
              <a:srgbClr val="2D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3296412"/>
            <a:ext cx="1920240" cy="45262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L4 · AI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24912" y="3232404"/>
            <a:ext cx="5230368" cy="544068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98064" y="3296412"/>
            <a:ext cx="5074920" cy="45262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000" b="0">
                <a:solidFill>
                  <a:srgbClr val="0B1F33"/>
                </a:solidFill>
                <a:latin typeface="Aptos"/>
              </a:rPr>
              <a:t>[ Slot riservato — attivabile su caso d'uso verificato: Ollama · LangGraph · Qdrant ]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91856" y="3232404"/>
            <a:ext cx="3456432" cy="544068"/>
          </a:xfrm>
          <a:prstGeom prst="rect">
            <a:avLst/>
          </a:prstGeom>
          <a:solidFill>
            <a:srgbClr val="DEEAF5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65008" y="3296412"/>
            <a:ext cx="3291840" cy="45262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000" b="0">
                <a:solidFill>
                  <a:srgbClr val="183554"/>
                </a:solidFill>
                <a:latin typeface="Aptos"/>
              </a:rPr>
              <a:t>REST OpenAI-compatible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3776472"/>
            <a:ext cx="2029968" cy="544068"/>
          </a:xfrm>
          <a:prstGeom prst="rect">
            <a:avLst/>
          </a:prstGeom>
          <a:solidFill>
            <a:srgbClr val="D52B1E"/>
          </a:solidFill>
          <a:ln>
            <a:solidFill>
              <a:srgbClr val="D52B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3232" y="3840480"/>
            <a:ext cx="1920240" cy="45262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L5 · Document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24912" y="3776472"/>
            <a:ext cx="5230368" cy="544068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98064" y="3840480"/>
            <a:ext cx="5074920" cy="45262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000" b="0">
                <a:solidFill>
                  <a:srgbClr val="0B1F33"/>
                </a:solidFill>
                <a:latin typeface="Aptos"/>
              </a:rPr>
              <a:t>Alfresco CE 23 (ECM, CMIS 1.1, OCR)  |  MinIO S3-compatible  [storage pluggable]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991856" y="3776472"/>
            <a:ext cx="3456432" cy="544068"/>
          </a:xfrm>
          <a:prstGeom prst="rect">
            <a:avLst/>
          </a:prstGeom>
          <a:solidFill>
            <a:srgbClr val="DEEAF5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65008" y="3840480"/>
            <a:ext cx="3291840" cy="45262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000" b="0">
                <a:solidFill>
                  <a:srgbClr val="183554"/>
                </a:solidFill>
                <a:latin typeface="Aptos"/>
              </a:rPr>
              <a:t>CMIS 1.1 + REST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4320540"/>
            <a:ext cx="2029968" cy="544068"/>
          </a:xfrm>
          <a:prstGeom prst="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3232" y="4384548"/>
            <a:ext cx="1920240" cy="45262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L6 · Integration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24912" y="4320540"/>
            <a:ext cx="5230368" cy="544068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98064" y="4384548"/>
            <a:ext cx="5074920" cy="45262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000" b="0">
                <a:solidFill>
                  <a:srgbClr val="0B1F33"/>
                </a:solidFill>
                <a:latin typeface="Aptos"/>
              </a:rPr>
              <a:t>Apache Camel 4 EIP  [REST/SFTP/MQ]  |  Kafka 3.7 KRaft (streaming)  |  RabbitMQ (code)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991856" y="4320540"/>
            <a:ext cx="3456432" cy="544068"/>
          </a:xfrm>
          <a:prstGeom prst="rect">
            <a:avLst/>
          </a:prstGeom>
          <a:solidFill>
            <a:srgbClr val="DEEAF5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65008" y="4384548"/>
            <a:ext cx="3291840" cy="45262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000" b="0">
                <a:solidFill>
                  <a:srgbClr val="183554"/>
                </a:solidFill>
                <a:latin typeface="Aptos"/>
              </a:rPr>
              <a:t>REST/SOAP/JMS + Kafka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" y="4864608"/>
            <a:ext cx="2029968" cy="544068"/>
          </a:xfrm>
          <a:prstGeom prst="rect">
            <a:avLst/>
          </a:prstGeom>
          <a:solidFill>
            <a:srgbClr val="183554"/>
          </a:solidFill>
          <a:ln>
            <a:solidFill>
              <a:srgbClr val="1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13232" y="4928616"/>
            <a:ext cx="1920240" cy="45262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L7 · Process Mining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24912" y="4864608"/>
            <a:ext cx="5230368" cy="544068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98064" y="4928616"/>
            <a:ext cx="5074920" cy="45262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000" b="0">
                <a:solidFill>
                  <a:srgbClr val="0B1F33"/>
                </a:solidFill>
                <a:latin typeface="Aptos"/>
              </a:rPr>
              <a:t>PM4Py 2.7 + Apache Superset  |  KPI, SLA breach, conformance checking, storico pratiche ANC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991856" y="4864608"/>
            <a:ext cx="3456432" cy="544068"/>
          </a:xfrm>
          <a:prstGeom prst="rect">
            <a:avLst/>
          </a:prstGeom>
          <a:solidFill>
            <a:srgbClr val="DEEAF5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65008" y="4928616"/>
            <a:ext cx="3291840" cy="45262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000" b="0">
                <a:solidFill>
                  <a:srgbClr val="183554"/>
                </a:solidFill>
                <a:latin typeface="Aptos"/>
              </a:rPr>
              <a:t>XES/OCEL 2.0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58368" y="5408676"/>
            <a:ext cx="2029968" cy="544068"/>
          </a:xfrm>
          <a:prstGeom prst="rect">
            <a:avLst/>
          </a:prstGeom>
          <a:solidFill>
            <a:srgbClr val="D52B1E"/>
          </a:solidFill>
          <a:ln>
            <a:solidFill>
              <a:srgbClr val="D52B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3232" y="5472684"/>
            <a:ext cx="1920240" cy="45262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L8 · Infrastructure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24912" y="5408676"/>
            <a:ext cx="5230368" cy="544068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798064" y="5472684"/>
            <a:ext cx="5074920" cy="45262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000" b="0">
                <a:solidFill>
                  <a:srgbClr val="0B1F33"/>
                </a:solidFill>
                <a:latin typeface="Aptos"/>
              </a:rPr>
              <a:t>Kubernetes/OKD multi-AZ  [container+K8s]  |  ArgoCD GitOps  |  OpenBao  |  Cilium mTLS  [OAuth2+TLS]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991856" y="5408676"/>
            <a:ext cx="3456432" cy="544068"/>
          </a:xfrm>
          <a:prstGeom prst="rect">
            <a:avLst/>
          </a:prstGeom>
          <a:solidFill>
            <a:srgbClr val="DEEAF5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065008" y="5472684"/>
            <a:ext cx="3291840" cy="45262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000" b="0">
                <a:solidFill>
                  <a:srgbClr val="183554"/>
                </a:solidFill>
                <a:latin typeface="Aptos"/>
              </a:rPr>
              <a:t>K8s API + OpenTelemetry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8368" y="5952744"/>
            <a:ext cx="10789920" cy="402336"/>
          </a:xfrm>
          <a:prstGeom prst="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04672" y="5989320"/>
            <a:ext cx="10424160" cy="310896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TRASVERSALE:  MariaDB HA Galera [vincolo DB]  ·  Java 21 LTS [vincolo backend]  ·  Valkey cache [performance]  ·  RBAC gerarchico Keycloak [vincolo auth]  ·  SLA ≥ 99,9%  ·  RTO &lt; 4h  ·  RPO &lt; 1h  ·  GDPR + DORA compliant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58368" y="6446520"/>
            <a:ext cx="10094976" cy="338328"/>
          </a:xfrm>
          <a:prstGeom prst="rect">
            <a:avLst/>
          </a:prstGeom>
          <a:solidFill>
            <a:srgbClr val="DEEAF5"/>
          </a:solidFill>
          <a:ln>
            <a:solidFill>
              <a:srgbClr val="DE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04672" y="6492240"/>
            <a:ext cx="9784080" cy="237744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00" b="1">
                <a:solidFill>
                  <a:srgbClr val="183554"/>
                </a:solidFill>
                <a:latin typeface="Aptos"/>
              </a:rPr>
              <a:t>Le etichette [vincolo: ...] tracciano esplicitamente ogni vincolo dichiarato da Poste al componente architetturale che lo soddisfa.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