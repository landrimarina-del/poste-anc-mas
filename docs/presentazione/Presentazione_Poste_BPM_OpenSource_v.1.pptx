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8" r:id="rId6"/>
    <p:sldId id="279" r:id="rId7"/>
    <p:sldId id="275" r:id="rId8"/>
    <p:sldId id="261" r:id="rId9"/>
    <p:sldId id="263" r:id="rId10"/>
    <p:sldId id="264" r:id="rId11"/>
    <p:sldId id="265" r:id="rId12"/>
    <p:sldId id="276" r:id="rId13"/>
    <p:sldId id="268" r:id="rId14"/>
    <p:sldId id="269" r:id="rId15"/>
    <p:sldId id="270" r:id="rId16"/>
    <p:sldId id="280" r:id="rId17"/>
    <p:sldId id="272" r:id="rId18"/>
    <p:sldId id="274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921EB-29B8-4069-81C6-9DFD68C53198}" v="8" dt="2026-06-05T13:03:36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na Landri" userId="65af4ceb-bb4d-433f-a469-85acc11b881f" providerId="ADAL" clId="{E8EEC074-9F7E-408B-9C76-FFC91E2E4B8D}"/>
    <pc:docChg chg="undo custSel addSld delSld modSld sldOrd">
      <pc:chgData name="Marina Landri" userId="65af4ceb-bb4d-433f-a469-85acc11b881f" providerId="ADAL" clId="{E8EEC074-9F7E-408B-9C76-FFC91E2E4B8D}" dt="2026-06-05T13:24:16.921" v="99" actId="20577"/>
      <pc:docMkLst>
        <pc:docMk/>
      </pc:docMkLst>
      <pc:sldChg chg="add del">
        <pc:chgData name="Marina Landri" userId="65af4ceb-bb4d-433f-a469-85acc11b881f" providerId="ADAL" clId="{E8EEC074-9F7E-408B-9C76-FFC91E2E4B8D}" dt="2026-06-05T10:24:55.573" v="28" actId="2696"/>
        <pc:sldMkLst>
          <pc:docMk/>
          <pc:sldMk cId="0" sldId="260"/>
        </pc:sldMkLst>
      </pc:sldChg>
      <pc:sldChg chg="modSp mod">
        <pc:chgData name="Marina Landri" userId="65af4ceb-bb4d-433f-a469-85acc11b881f" providerId="ADAL" clId="{E8EEC074-9F7E-408B-9C76-FFC91E2E4B8D}" dt="2026-06-05T12:28:31.820" v="33" actId="20577"/>
        <pc:sldMkLst>
          <pc:docMk/>
          <pc:sldMk cId="0" sldId="261"/>
        </pc:sldMkLst>
        <pc:spChg chg="mod">
          <ac:chgData name="Marina Landri" userId="65af4ceb-bb4d-433f-a469-85acc11b881f" providerId="ADAL" clId="{E8EEC074-9F7E-408B-9C76-FFC91E2E4B8D}" dt="2026-06-05T12:28:31.820" v="33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Marina Landri" userId="65af4ceb-bb4d-433f-a469-85acc11b881f" providerId="ADAL" clId="{E8EEC074-9F7E-408B-9C76-FFC91E2E4B8D}" dt="2026-06-05T10:11:39.257" v="8" actId="2696"/>
        <pc:sldMkLst>
          <pc:docMk/>
          <pc:sldMk cId="0" sldId="266"/>
        </pc:sldMkLst>
      </pc:sldChg>
      <pc:sldChg chg="del">
        <pc:chgData name="Marina Landri" userId="65af4ceb-bb4d-433f-a469-85acc11b881f" providerId="ADAL" clId="{E8EEC074-9F7E-408B-9C76-FFC91E2E4B8D}" dt="2026-06-05T10:08:36.019" v="0" actId="2696"/>
        <pc:sldMkLst>
          <pc:docMk/>
          <pc:sldMk cId="0" sldId="267"/>
        </pc:sldMkLst>
      </pc:sldChg>
      <pc:sldChg chg="addSp delSp modSp mod">
        <pc:chgData name="Marina Landri" userId="65af4ceb-bb4d-433f-a469-85acc11b881f" providerId="ADAL" clId="{E8EEC074-9F7E-408B-9C76-FFC91E2E4B8D}" dt="2026-06-05T12:31:35.725" v="58" actId="20577"/>
        <pc:sldMkLst>
          <pc:docMk/>
          <pc:sldMk cId="0" sldId="268"/>
        </pc:sldMkLst>
        <pc:spChg chg="mod">
          <ac:chgData name="Marina Landri" userId="65af4ceb-bb4d-433f-a469-85acc11b881f" providerId="ADAL" clId="{E8EEC074-9F7E-408B-9C76-FFC91E2E4B8D}" dt="2026-06-05T12:31:35.725" v="58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0:12:28.311" v="9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0:59.748" v="56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4:07.985" v="15" actId="20577"/>
          <ac:spMkLst>
            <pc:docMk/>
            <pc:sldMk cId="0" sldId="268"/>
            <ac:spMk id="23" creationId="{00000000-0000-0000-0000-000000000000}"/>
          </ac:spMkLst>
        </pc:spChg>
        <pc:spChg chg="add mod">
          <ac:chgData name="Marina Landri" userId="65af4ceb-bb4d-433f-a469-85acc11b881f" providerId="ADAL" clId="{E8EEC074-9F7E-408B-9C76-FFC91E2E4B8D}" dt="2026-06-05T10:14:03.679" v="13" actId="1076"/>
          <ac:spMkLst>
            <pc:docMk/>
            <pc:sldMk cId="0" sldId="268"/>
            <ac:spMk id="24" creationId="{5CCC28C2-FF34-BC99-C641-95411EC50F6B}"/>
          </ac:spMkLst>
        </pc:spChg>
        <pc:spChg chg="add mod">
          <ac:chgData name="Marina Landri" userId="65af4ceb-bb4d-433f-a469-85acc11b881f" providerId="ADAL" clId="{E8EEC074-9F7E-408B-9C76-FFC91E2E4B8D}" dt="2026-06-05T10:14:03.679" v="13" actId="1076"/>
          <ac:spMkLst>
            <pc:docMk/>
            <pc:sldMk cId="0" sldId="268"/>
            <ac:spMk id="25" creationId="{3A3D8D8A-A86C-7829-5398-9C762F443785}"/>
          </ac:spMkLst>
        </pc:spChg>
      </pc:sldChg>
      <pc:sldChg chg="modSp mod">
        <pc:chgData name="Marina Landri" userId="65af4ceb-bb4d-433f-a469-85acc11b881f" providerId="ADAL" clId="{E8EEC074-9F7E-408B-9C76-FFC91E2E4B8D}" dt="2026-06-05T12:31:59.057" v="59" actId="20577"/>
        <pc:sldMkLst>
          <pc:docMk/>
          <pc:sldMk cId="0" sldId="269"/>
        </pc:sldMkLst>
        <pc:spChg chg="mod">
          <ac:chgData name="Marina Landri" userId="65af4ceb-bb4d-433f-a469-85acc11b881f" providerId="ADAL" clId="{E8EEC074-9F7E-408B-9C76-FFC91E2E4B8D}" dt="2026-06-05T12:31:59.057" v="59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Marina Landri" userId="65af4ceb-bb4d-433f-a469-85acc11b881f" providerId="ADAL" clId="{E8EEC074-9F7E-408B-9C76-FFC91E2E4B8D}" dt="2026-06-05T12:32:29.346" v="62" actId="113"/>
        <pc:sldMkLst>
          <pc:docMk/>
          <pc:sldMk cId="0" sldId="270"/>
        </pc:sldMkLst>
        <pc:spChg chg="mod">
          <ac:chgData name="Marina Landri" userId="65af4ceb-bb4d-433f-a469-85acc11b881f" providerId="ADAL" clId="{E8EEC074-9F7E-408B-9C76-FFC91E2E4B8D}" dt="2026-06-05T12:32:03.421" v="60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16.022" v="61" actId="113"/>
          <ac:spMkLst>
            <pc:docMk/>
            <pc:sldMk cId="0" sldId="270"/>
            <ac:spMk id="18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26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3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42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50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58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66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7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82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2:29.346" v="62" actId="113"/>
          <ac:spMkLst>
            <pc:docMk/>
            <pc:sldMk cId="0" sldId="270"/>
            <ac:spMk id="90" creationId="{00000000-0000-0000-0000-000000000000}"/>
          </ac:spMkLst>
        </pc:spChg>
      </pc:sldChg>
      <pc:sldChg chg="del">
        <pc:chgData name="Marina Landri" userId="65af4ceb-bb4d-433f-a469-85acc11b881f" providerId="ADAL" clId="{E8EEC074-9F7E-408B-9C76-FFC91E2E4B8D}" dt="2026-06-05T10:17:24.688" v="19" actId="2696"/>
        <pc:sldMkLst>
          <pc:docMk/>
          <pc:sldMk cId="0" sldId="271"/>
        </pc:sldMkLst>
      </pc:sldChg>
      <pc:sldChg chg="addSp delSp modSp mod">
        <pc:chgData name="Marina Landri" userId="65af4ceb-bb4d-433f-a469-85acc11b881f" providerId="ADAL" clId="{E8EEC074-9F7E-408B-9C76-FFC91E2E4B8D}" dt="2026-06-05T13:24:16.921" v="99" actId="20577"/>
        <pc:sldMkLst>
          <pc:docMk/>
          <pc:sldMk cId="0" sldId="272"/>
        </pc:sldMkLst>
        <pc:spChg chg="mod">
          <ac:chgData name="Marina Landri" userId="65af4ceb-bb4d-433f-a469-85acc11b881f" providerId="ADAL" clId="{E8EEC074-9F7E-408B-9C76-FFC91E2E4B8D}" dt="2026-06-05T13:05:51.130" v="94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3:48.088" v="77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3:51.704" v="78" actId="1076"/>
          <ac:spMkLst>
            <pc:docMk/>
            <pc:sldMk cId="0" sldId="272"/>
            <ac:spMk id="5" creationId="{00000000-0000-0000-0000-000000000000}"/>
          </ac:spMkLst>
        </pc:spChg>
        <pc:spChg chg="add mod">
          <ac:chgData name="Marina Landri" userId="65af4ceb-bb4d-433f-a469-85acc11b881f" providerId="ADAL" clId="{E8EEC074-9F7E-408B-9C76-FFC91E2E4B8D}" dt="2026-06-05T13:04:38.919" v="82" actId="1076"/>
          <ac:spMkLst>
            <pc:docMk/>
            <pc:sldMk cId="0" sldId="272"/>
            <ac:spMk id="6" creationId="{603A0134-59F7-CC8E-0D6F-D38858C883A9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24:16.921" v="99" actId="2057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3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36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38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4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47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04:01.202" v="79" actId="1076"/>
          <ac:spMkLst>
            <pc:docMk/>
            <pc:sldMk cId="0" sldId="272"/>
            <ac:spMk id="51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3:04:30.459" v="81" actId="478"/>
          <ac:spMkLst>
            <pc:docMk/>
            <pc:sldMk cId="0" sldId="272"/>
            <ac:spMk id="57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3:04:30.459" v="81" actId="478"/>
          <ac:spMkLst>
            <pc:docMk/>
            <pc:sldMk cId="0" sldId="272"/>
            <ac:spMk id="58" creationId="{00000000-0000-0000-0000-000000000000}"/>
          </ac:spMkLst>
        </pc:spChg>
        <pc:spChg chg="add mod">
          <ac:chgData name="Marina Landri" userId="65af4ceb-bb4d-433f-a469-85acc11b881f" providerId="ADAL" clId="{E8EEC074-9F7E-408B-9C76-FFC91E2E4B8D}" dt="2026-06-05T13:04:38.919" v="82" actId="1076"/>
          <ac:spMkLst>
            <pc:docMk/>
            <pc:sldMk cId="0" sldId="272"/>
            <ac:spMk id="59" creationId="{4A1B3723-54CD-FFA9-7D8E-7DCECBCDAB4D}"/>
          </ac:spMkLst>
        </pc:spChg>
      </pc:sldChg>
      <pc:sldChg chg="modSp del mod ord modShow">
        <pc:chgData name="Marina Landri" userId="65af4ceb-bb4d-433f-a469-85acc11b881f" providerId="ADAL" clId="{E8EEC074-9F7E-408B-9C76-FFC91E2E4B8D}" dt="2026-06-05T13:05:32.616" v="90" actId="2696"/>
        <pc:sldMkLst>
          <pc:docMk/>
          <pc:sldMk cId="0" sldId="273"/>
        </pc:sldMkLst>
        <pc:spChg chg="mod">
          <ac:chgData name="Marina Landri" userId="65af4ceb-bb4d-433f-a469-85acc11b881f" providerId="ADAL" clId="{E8EEC074-9F7E-408B-9C76-FFC91E2E4B8D}" dt="2026-06-05T12:32:45.606" v="64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2:37:14.088" v="67" actId="6549"/>
          <ac:spMkLst>
            <pc:docMk/>
            <pc:sldMk cId="0" sldId="273"/>
            <ac:spMk id="16" creationId="{00000000-0000-0000-0000-000000000000}"/>
          </ac:spMkLst>
        </pc:spChg>
      </pc:sldChg>
      <pc:sldChg chg="modSp mod">
        <pc:chgData name="Marina Landri" userId="65af4ceb-bb4d-433f-a469-85acc11b881f" providerId="ADAL" clId="{E8EEC074-9F7E-408B-9C76-FFC91E2E4B8D}" dt="2026-06-05T12:27:31.900" v="31" actId="20577"/>
        <pc:sldMkLst>
          <pc:docMk/>
          <pc:sldMk cId="0" sldId="275"/>
        </pc:sldMkLst>
        <pc:spChg chg="mod">
          <ac:chgData name="Marina Landri" userId="65af4ceb-bb4d-433f-a469-85acc11b881f" providerId="ADAL" clId="{E8EEC074-9F7E-408B-9C76-FFC91E2E4B8D}" dt="2026-06-05T12:27:31.900" v="31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8:27.474" v="21" actId="20577"/>
          <ac:spMkLst>
            <pc:docMk/>
            <pc:sldMk cId="0" sldId="275"/>
            <ac:spMk id="49" creationId="{00000000-0000-0000-0000-000000000000}"/>
          </ac:spMkLst>
        </pc:spChg>
      </pc:sldChg>
      <pc:sldChg chg="delSp modSp add mod setBg">
        <pc:chgData name="Marina Landri" userId="65af4ceb-bb4d-433f-a469-85acc11b881f" providerId="ADAL" clId="{E8EEC074-9F7E-408B-9C76-FFC91E2E4B8D}" dt="2026-06-05T12:31:25.949" v="57" actId="20577"/>
        <pc:sldMkLst>
          <pc:docMk/>
          <pc:sldMk cId="0" sldId="276"/>
        </pc:sldMkLst>
        <pc:spChg chg="mod">
          <ac:chgData name="Marina Landri" userId="65af4ceb-bb4d-433f-a469-85acc11b881f" providerId="ADAL" clId="{E8EEC074-9F7E-408B-9C76-FFC91E2E4B8D}" dt="2026-06-05T12:31:25.949" v="57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1:32.683" v="7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1:32.683" v="7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0:55.159" v="2"/>
          <ac:spMkLst>
            <pc:docMk/>
            <pc:sldMk cId="0" sldId="276"/>
            <ac:spMk id="6" creationId="{00000000-0000-0000-0000-000000000000}"/>
          </ac:spMkLst>
        </pc:spChg>
        <pc:spChg chg="del mod">
          <ac:chgData name="Marina Landri" userId="65af4ceb-bb4d-433f-a469-85acc11b881f" providerId="ADAL" clId="{E8EEC074-9F7E-408B-9C76-FFC91E2E4B8D}" dt="2026-06-05T10:11:00.415" v="4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0:11:04.103" v="5" actId="478"/>
          <ac:spMkLst>
            <pc:docMk/>
            <pc:sldMk cId="0" sldId="276"/>
            <ac:spMk id="8" creationId="{00000000-0000-0000-0000-000000000000}"/>
          </ac:spMkLst>
        </pc:spChg>
      </pc:sldChg>
      <pc:sldChg chg="delSp modSp add del mod setBg">
        <pc:chgData name="Marina Landri" userId="65af4ceb-bb4d-433f-a469-85acc11b881f" providerId="ADAL" clId="{E8EEC074-9F7E-408B-9C76-FFC91E2E4B8D}" dt="2026-06-05T13:02:42.691" v="74" actId="2696"/>
        <pc:sldMkLst>
          <pc:docMk/>
          <pc:sldMk cId="0" sldId="277"/>
        </pc:sldMkLst>
        <pc:spChg chg="mod">
          <ac:chgData name="Marina Landri" userId="65af4ceb-bb4d-433f-a469-85acc11b881f" providerId="ADAL" clId="{E8EEC074-9F7E-408B-9C76-FFC91E2E4B8D}" dt="2026-06-05T12:32:56.269" v="66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9:29.827" v="23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0:19:29.827" v="23" actId="1076"/>
          <ac:spMkLst>
            <pc:docMk/>
            <pc:sldMk cId="0" sldId="277"/>
            <ac:spMk id="5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0:19:23.833" v="22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0:19:30.925" v="24" actId="478"/>
          <ac:spMkLst>
            <pc:docMk/>
            <pc:sldMk cId="0" sldId="277"/>
            <ac:spMk id="8" creationId="{00000000-0000-0000-0000-000000000000}"/>
          </ac:spMkLst>
        </pc:spChg>
      </pc:sldChg>
      <pc:sldChg chg="delSp add mod setBg">
        <pc:chgData name="Marina Landri" userId="65af4ceb-bb4d-433f-a469-85acc11b881f" providerId="ADAL" clId="{E8EEC074-9F7E-408B-9C76-FFC91E2E4B8D}" dt="2026-06-05T12:27:09.692" v="29" actId="478"/>
        <pc:sldMkLst>
          <pc:docMk/>
          <pc:sldMk cId="0" sldId="278"/>
        </pc:sldMkLst>
        <pc:spChg chg="del">
          <ac:chgData name="Marina Landri" userId="65af4ceb-bb4d-433f-a469-85acc11b881f" providerId="ADAL" clId="{E8EEC074-9F7E-408B-9C76-FFC91E2E4B8D}" dt="2026-06-05T12:27:09.692" v="29" actId="478"/>
          <ac:spMkLst>
            <pc:docMk/>
            <pc:sldMk cId="0" sldId="278"/>
            <ac:spMk id="8" creationId="{00000000-0000-0000-0000-000000000000}"/>
          </ac:spMkLst>
        </pc:spChg>
      </pc:sldChg>
      <pc:sldChg chg="delSp add mod setBg">
        <pc:chgData name="Marina Landri" userId="65af4ceb-bb4d-433f-a469-85acc11b881f" providerId="ADAL" clId="{E8EEC074-9F7E-408B-9C76-FFC91E2E4B8D}" dt="2026-06-05T12:27:15.831" v="30" actId="478"/>
        <pc:sldMkLst>
          <pc:docMk/>
          <pc:sldMk cId="0" sldId="279"/>
        </pc:sldMkLst>
        <pc:spChg chg="del">
          <ac:chgData name="Marina Landri" userId="65af4ceb-bb4d-433f-a469-85acc11b881f" providerId="ADAL" clId="{E8EEC074-9F7E-408B-9C76-FFC91E2E4B8D}" dt="2026-06-05T12:27:15.831" v="30" actId="478"/>
          <ac:spMkLst>
            <pc:docMk/>
            <pc:sldMk cId="0" sldId="279"/>
            <ac:spMk id="8" creationId="{00000000-0000-0000-0000-000000000000}"/>
          </ac:spMkLst>
        </pc:spChg>
      </pc:sldChg>
      <pc:sldChg chg="delSp modSp add mod setBg">
        <pc:chgData name="Marina Landri" userId="65af4ceb-bb4d-433f-a469-85acc11b881f" providerId="ADAL" clId="{E8EEC074-9F7E-408B-9C76-FFC91E2E4B8D}" dt="2026-06-05T13:22:24.904" v="96" actId="20577"/>
        <pc:sldMkLst>
          <pc:docMk/>
          <pc:sldMk cId="0" sldId="280"/>
        </pc:sldMkLst>
        <pc:spChg chg="mod">
          <ac:chgData name="Marina Landri" userId="65af4ceb-bb4d-433f-a469-85acc11b881f" providerId="ADAL" clId="{E8EEC074-9F7E-408B-9C76-FFC91E2E4B8D}" dt="2026-06-05T13:05:44.783" v="92" actId="20577"/>
          <ac:spMkLst>
            <pc:docMk/>
            <pc:sldMk cId="0" sldId="280"/>
            <ac:spMk id="3" creationId="{00000000-0000-0000-0000-000000000000}"/>
          </ac:spMkLst>
        </pc:spChg>
        <pc:spChg chg="del">
          <ac:chgData name="Marina Landri" userId="65af4ceb-bb4d-433f-a469-85acc11b881f" providerId="ADAL" clId="{E8EEC074-9F7E-408B-9C76-FFC91E2E4B8D}" dt="2026-06-05T13:02:16.745" v="71" actId="478"/>
          <ac:spMkLst>
            <pc:docMk/>
            <pc:sldMk cId="0" sldId="280"/>
            <ac:spMk id="8" creationId="{00000000-0000-0000-0000-000000000000}"/>
          </ac:spMkLst>
        </pc:spChg>
        <pc:spChg chg="mod">
          <ac:chgData name="Marina Landri" userId="65af4ceb-bb4d-433f-a469-85acc11b881f" providerId="ADAL" clId="{E8EEC074-9F7E-408B-9C76-FFC91E2E4B8D}" dt="2026-06-05T13:22:24.904" v="96" actId="20577"/>
          <ac:spMkLst>
            <pc:docMk/>
            <pc:sldMk cId="0" sldId="280"/>
            <ac:spMk id="3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120000">
            <a:off x="-502920" y="5440680"/>
            <a:ext cx="7406640" cy="192024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41080" y="-228600"/>
            <a:ext cx="3840480" cy="2148840"/>
          </a:xfrm>
          <a:prstGeom prst="rect">
            <a:avLst/>
          </a:prstGeom>
          <a:solidFill>
            <a:srgbClr val="EF5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949440" cy="14630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Hyperautomation &amp; BPM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6309360" cy="7315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800" b="0">
                <a:solidFill>
                  <a:srgbClr val="F7F3EE"/>
                </a:solidFill>
                <a:latin typeface="Aptos"/>
              </a:rPr>
              <a:t>La piattaforma Lutech — architettura di riferimento e caso Poste Italiane ANC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57600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3730752"/>
            <a:ext cx="260604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Aptos"/>
              </a:rPr>
              <a:t>OPEN SOURCE  |  HYPERAUTOMATION  |  BPM  |  ANC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5623560"/>
            <a:ext cx="2514600" cy="502920"/>
          </a:xfrm>
          <a:prstGeom prst="rect">
            <a:avLst/>
          </a:prstGeom>
          <a:solidFill>
            <a:srgbClr val="F7F3EE"/>
          </a:solidFill>
          <a:ln>
            <a:solidFill>
              <a:srgbClr val="F7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14816" y="5760720"/>
            <a:ext cx="2103120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Aptos"/>
              </a:rPr>
              <a:t>Business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La nostra offerta si amplia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13892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755648"/>
            <a:ext cx="513892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" y="2033508"/>
            <a:ext cx="2729484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6" y="1993392"/>
            <a:ext cx="2615184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577" y="2121039"/>
            <a:ext cx="1929384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OFFERTA BPM-CENTRIC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5" y="2089773"/>
            <a:ext cx="2332507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OFFERTA 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450592"/>
            <a:ext cx="4736592" cy="3657600"/>
          </a:xfrm>
          <a:prstGeom prst="rect">
            <a:avLst/>
          </a:prstGeom>
          <a:noFill/>
        </p:spPr>
        <p:txBody>
          <a:bodyPr wrap="square" lIns="128016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 err="1"/>
              <a:t>Piattaforme</a:t>
            </a:r>
            <a:r>
              <a:rPr dirty="0"/>
              <a:t> BPM enterprise </a:t>
            </a:r>
            <a:r>
              <a:rPr dirty="0" err="1"/>
              <a:t>proprietarie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 err="1"/>
              <a:t>Esperienza</a:t>
            </a:r>
            <a:r>
              <a:rPr dirty="0"/>
              <a:t> </a:t>
            </a:r>
            <a:r>
              <a:rPr dirty="0" err="1"/>
              <a:t>consolidata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workflow, task e document management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 err="1"/>
              <a:t>Soluzioni</a:t>
            </a:r>
            <a:r>
              <a:rPr dirty="0"/>
              <a:t> certificate e </a:t>
            </a:r>
            <a:r>
              <a:rPr dirty="0" err="1"/>
              <a:t>supportate</a:t>
            </a:r>
            <a:r>
              <a:rPr dirty="0"/>
              <a:t> dal vendor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Stack </a:t>
            </a:r>
            <a:r>
              <a:rPr dirty="0" err="1"/>
              <a:t>validato</a:t>
            </a:r>
            <a:r>
              <a:rPr dirty="0"/>
              <a:t> in </a:t>
            </a:r>
            <a:r>
              <a:rPr dirty="0" err="1"/>
              <a:t>contesti</a:t>
            </a:r>
            <a:r>
              <a:rPr dirty="0"/>
              <a:t> enterprise </a:t>
            </a:r>
            <a:r>
              <a:rPr dirty="0" err="1"/>
              <a:t>complessi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208776" y="2450592"/>
            <a:ext cx="4736592" cy="3657600"/>
          </a:xfrm>
          <a:prstGeom prst="rect">
            <a:avLst/>
          </a:prstGeom>
          <a:noFill/>
        </p:spPr>
        <p:txBody>
          <a:bodyPr wrap="square" lIns="128016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t>Piattaforma interamente open source, licenze Apache 2.0 / MIT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t>Controllo del codice, dei processi e dei dati sempre del cliente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t>Stessa profondità architetturale — zero lock-in tecnologico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t>Scelta guidata da: autonomia, costi, portabilità e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La scelta tra i due percorsi dipende dal contesto del cliente — l'offerta Lutech li copre entrambi.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I 9 Principi Architetturali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0180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3584448" cy="27432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P1 — No Vendor Lock-in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02536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Solo licenze OSI-approved. Standard aperti: BPMN 2.0, OpenAPI, OIDC, CMIS. Ogni componente sostituibile.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664208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2544" y="1664208"/>
            <a:ext cx="358444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700784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P2 — Cloud-native &amp; Modulare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002536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Container come unità di deploy. Da Docker Compose a Kubernetes senza rifondare.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64208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664208"/>
            <a:ext cx="3584448" cy="274320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1700784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P3 — Security by Zero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02536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Ogni interazione autenticata, autorizzata e cifrata. GDPR e DORA come requisiti strutturali.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99816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099816"/>
            <a:ext cx="3584448" cy="274320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36392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P4 — API-first &amp; Event-driven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38144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Contratti espliciti OpenAPI/AsyncAPI. Broker e streaming per disaccoppiamento asincrono.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2544" y="3099816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2544" y="3099816"/>
            <a:ext cx="3584448" cy="2743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25696" y="3136392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P5 — Observability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3438144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Metriche, log strutturati, tracing distribuito correlati da trace ID — non opzionali.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099816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3099816"/>
            <a:ext cx="3584448" cy="27432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3136392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P6 — AI-ready, not AI-first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438144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Slot architetturale riservato nel Layer 4. Attivabile solo con caso d'uso concreto e misurabile.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35424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4535424"/>
            <a:ext cx="3584448" cy="274320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P7 — UX Multicanale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873752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Design system WCAG 2.1 AA, mobile-first. Esperienza coerente desktop/tablet/mobile.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2544" y="4535424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52544" y="4535424"/>
            <a:ext cx="358444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25696" y="4572000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P8 — Scalabilità Progressiva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4" y="4873752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Modular monolith → microservizi selettivi. Nessun big bang architetturale.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535424"/>
            <a:ext cx="3584448" cy="1344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46720" y="4535424"/>
            <a:ext cx="3584448" cy="274320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9872" y="4572000"/>
            <a:ext cx="3493008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P9 — DevOps &amp; Rilascio Continuo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873752"/>
            <a:ext cx="3447288" cy="9601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CI/CD, GitOps e IaC come parte dell'architettura. Rollback automatico integrato.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Architettura Logica a 8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910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8053"/>
            <a:ext cx="2029968" cy="55778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952061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L1 ·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888053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1952061"/>
            <a:ext cx="4892040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en-US" sz="1200" dirty="0"/>
              <a:t>Frontend </a:t>
            </a:r>
            <a:r>
              <a:rPr lang="en-US" sz="1200" dirty="0" err="1"/>
              <a:t>multicanale</a:t>
            </a:r>
            <a:r>
              <a:rPr lang="en-US" sz="1200" dirty="0"/>
              <a:t> (web, tablet, mobile PWA). API Gateway come reverse proxy, </a:t>
            </a:r>
            <a:r>
              <a:rPr lang="en-US" sz="1200" dirty="0" err="1"/>
              <a:t>autenticazione</a:t>
            </a:r>
            <a:r>
              <a:rPr lang="en-US" sz="1200" dirty="0"/>
              <a:t>, rate limiting.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" y="2445837"/>
            <a:ext cx="2029968" cy="55778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509845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L2 · BPM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2445837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16352" y="2509845"/>
            <a:ext cx="4892040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 dirty="0">
                <a:solidFill>
                  <a:srgbClr val="0B1F33"/>
                </a:solidFill>
                <a:latin typeface="Aptos"/>
              </a:rPr>
              <a:t>BPMN 2.0, </a:t>
            </a:r>
            <a:r>
              <a:rPr sz="1200" b="0" dirty="0" err="1">
                <a:solidFill>
                  <a:srgbClr val="0B1F33"/>
                </a:solidFill>
                <a:latin typeface="Aptos"/>
              </a:rPr>
              <a:t>ciclo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 di vita </a:t>
            </a:r>
            <a:r>
              <a:rPr sz="1200" b="0" dirty="0" err="1">
                <a:solidFill>
                  <a:srgbClr val="0B1F33"/>
                </a:solidFill>
                <a:latin typeface="Aptos"/>
              </a:rPr>
              <a:t>istanze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, human task, timer, SLA, </a:t>
            </a:r>
            <a:r>
              <a:rPr lang="it-IT" sz="1200" b="0" dirty="0">
                <a:solidFill>
                  <a:srgbClr val="0B1F33"/>
                </a:solidFill>
                <a:latin typeface="Aptos"/>
              </a:rPr>
              <a:t>transizioni generano eventi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3003621"/>
            <a:ext cx="2029968" cy="55778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67629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L3 ·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3003621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16352" y="3067629"/>
            <a:ext cx="4892040" cy="590931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en-US" sz="1200" dirty="0"/>
              <a:t>Logica </a:t>
            </a:r>
            <a:r>
              <a:rPr lang="en-US" sz="1200" dirty="0" err="1"/>
              <a:t>decisionale</a:t>
            </a:r>
            <a:r>
              <a:rPr lang="en-US" sz="1200" dirty="0"/>
              <a:t> </a:t>
            </a:r>
            <a:r>
              <a:rPr lang="en-US" sz="1200" dirty="0" err="1"/>
              <a:t>esternalizzata</a:t>
            </a:r>
            <a:r>
              <a:rPr lang="en-US" sz="1200" dirty="0"/>
              <a:t>: </a:t>
            </a:r>
            <a:r>
              <a:rPr lang="en-US" sz="1200" dirty="0" err="1"/>
              <a:t>regole</a:t>
            </a:r>
            <a:r>
              <a:rPr lang="en-US" sz="1200" dirty="0"/>
              <a:t> business, decision table DMN, policy multi-</a:t>
            </a:r>
            <a:r>
              <a:rPr lang="en-US" sz="1200" dirty="0" err="1"/>
              <a:t>legislazione</a:t>
            </a:r>
            <a:r>
              <a:rPr lang="en-US" sz="1200" dirty="0"/>
              <a:t>. </a:t>
            </a:r>
            <a:r>
              <a:rPr lang="en-US" sz="1200" dirty="0" err="1"/>
              <a:t>Modificabili</a:t>
            </a:r>
            <a:r>
              <a:rPr lang="en-US" sz="1200" dirty="0"/>
              <a:t> a runtime senza </a:t>
            </a:r>
            <a:r>
              <a:rPr lang="en-US" sz="1200" dirty="0" err="1"/>
              <a:t>rilasci</a:t>
            </a:r>
            <a:r>
              <a:rPr lang="en-US" dirty="0"/>
              <a:t>.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" y="3561405"/>
            <a:ext cx="2029968" cy="55778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625413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L4 · AI &amp; Agentic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4912" y="3561405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16352" y="3625413"/>
            <a:ext cx="4892040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en-US" sz="1200" dirty="0" err="1"/>
              <a:t>Classificazione</a:t>
            </a:r>
            <a:r>
              <a:rPr lang="en-US" sz="1200" dirty="0"/>
              <a:t> documenti, pre-</a:t>
            </a:r>
            <a:r>
              <a:rPr lang="en-US" sz="1200" dirty="0" err="1"/>
              <a:t>compilazione</a:t>
            </a:r>
            <a:r>
              <a:rPr lang="en-US" sz="1200" dirty="0"/>
              <a:t> form, chatbot (RAG), </a:t>
            </a:r>
            <a:r>
              <a:rPr lang="en-US" sz="1200" dirty="0" err="1"/>
              <a:t>supporto</a:t>
            </a:r>
            <a:r>
              <a:rPr lang="en-US" sz="1200" dirty="0"/>
              <a:t> </a:t>
            </a:r>
            <a:r>
              <a:rPr lang="en-US" sz="1200" dirty="0" err="1"/>
              <a:t>decisionale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8368" y="4119189"/>
            <a:ext cx="2029968" cy="557784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4183197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L5 · Document Mgmt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4119189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98230" y="4064061"/>
            <a:ext cx="4892040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en-US" sz="1200" dirty="0"/>
              <a:t>Ciclo di vita </a:t>
            </a:r>
            <a:r>
              <a:rPr lang="en-US" sz="1200" dirty="0" err="1"/>
              <a:t>documentale</a:t>
            </a:r>
            <a:r>
              <a:rPr lang="en-US" sz="1200" dirty="0"/>
              <a:t>: </a:t>
            </a:r>
            <a:r>
              <a:rPr lang="en-US" sz="1200" dirty="0" err="1"/>
              <a:t>acquisizione</a:t>
            </a:r>
            <a:r>
              <a:rPr lang="en-US" sz="1200" dirty="0"/>
              <a:t>, </a:t>
            </a:r>
            <a:r>
              <a:rPr lang="en-US" sz="1200" dirty="0" err="1"/>
              <a:t>estrazione</a:t>
            </a:r>
            <a:r>
              <a:rPr lang="en-US" sz="1200" dirty="0"/>
              <a:t> </a:t>
            </a:r>
            <a:r>
              <a:rPr lang="en-US" sz="1200" dirty="0" err="1"/>
              <a:t>contenuto</a:t>
            </a:r>
            <a:r>
              <a:rPr lang="en-US" sz="1200" dirty="0"/>
              <a:t> (OCR), </a:t>
            </a:r>
            <a:r>
              <a:rPr lang="en-US" sz="1200" dirty="0" err="1"/>
              <a:t>archiviazione</a:t>
            </a:r>
            <a:r>
              <a:rPr lang="en-US" sz="1200" dirty="0"/>
              <a:t>, versioning, </a:t>
            </a:r>
            <a:r>
              <a:rPr lang="en-US" sz="1200" dirty="0" err="1"/>
              <a:t>ricerca</a:t>
            </a:r>
            <a:r>
              <a:rPr lang="en-US" sz="1200" dirty="0"/>
              <a:t> full-text, </a:t>
            </a:r>
            <a:r>
              <a:rPr lang="en-US" sz="1200" dirty="0" err="1"/>
              <a:t>conformità</a:t>
            </a:r>
            <a:r>
              <a:rPr lang="en-US" sz="1200" dirty="0"/>
              <a:t> CMIS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8368" y="4676973"/>
            <a:ext cx="2029968" cy="55778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740981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L6 ·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24912" y="4676973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16352" y="4740981"/>
            <a:ext cx="4892040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sz="1200" b="0" dirty="0" err="1">
                <a:solidFill>
                  <a:srgbClr val="0B1F33"/>
                </a:solidFill>
                <a:latin typeface="Aptos"/>
              </a:rPr>
              <a:t>Connettori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 legacy EIP, routing, retry, dead letter, message broker, streaming</a:t>
            </a:r>
            <a:r>
              <a:rPr lang="it-IT" sz="1200" b="0" dirty="0">
                <a:solidFill>
                  <a:srgbClr val="0B1F33"/>
                </a:solidFill>
                <a:latin typeface="Aptos"/>
              </a:rPr>
              <a:t> </a:t>
            </a:r>
            <a:r>
              <a:rPr lang="en-US" sz="1200" dirty="0" err="1"/>
              <a:t>garantisce</a:t>
            </a:r>
            <a:r>
              <a:rPr lang="en-US" sz="1200" dirty="0"/>
              <a:t> </a:t>
            </a:r>
            <a:r>
              <a:rPr lang="en-US" sz="1200" dirty="0" err="1"/>
              <a:t>disaccoppiamento</a:t>
            </a:r>
            <a:r>
              <a:rPr lang="en-US" sz="1200" dirty="0"/>
              <a:t> </a:t>
            </a:r>
            <a:r>
              <a:rPr lang="en-US" sz="1200" dirty="0" err="1"/>
              <a:t>asincrono</a:t>
            </a:r>
            <a:endParaRPr sz="12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8368" y="5234757"/>
            <a:ext cx="2029968" cy="55778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" y="5298765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L7 · Process Mining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24912" y="5234757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16352" y="5298765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Discovery, conformance checking, KPI, bottleneck, SLA breach, dashboard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792541"/>
            <a:ext cx="2029968" cy="55778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5856549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L8 · Infrastructure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24912" y="5792541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16352" y="5856549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Container orchestration, GitOps, service mesh, observability, secret management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Ogni layer comunica solo con i layer adiacenti tramite contratti espliciti. La sostituzione di un componente non impatta gli altri layer.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58529727-DDEA-B11B-80D1-67A1F51316DA}"/>
              </a:ext>
            </a:extLst>
          </p:cNvPr>
          <p:cNvSpPr/>
          <p:nvPr/>
        </p:nvSpPr>
        <p:spPr>
          <a:xfrm>
            <a:off x="658367" y="1568959"/>
            <a:ext cx="2039635" cy="316877"/>
          </a:xfrm>
          <a:prstGeom prst="rect">
            <a:avLst/>
          </a:prstGeom>
          <a:solidFill>
            <a:srgbClr val="0070C0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9">
            <a:extLst>
              <a:ext uri="{FF2B5EF4-FFF2-40B4-BE49-F238E27FC236}">
                <a16:creationId xmlns:a16="http://schemas.microsoft.com/office/drawing/2014/main" id="{B05AF838-83F4-FD36-F6AE-01CB9D028032}"/>
              </a:ext>
            </a:extLst>
          </p:cNvPr>
          <p:cNvSpPr txBox="1"/>
          <p:nvPr/>
        </p:nvSpPr>
        <p:spPr>
          <a:xfrm>
            <a:off x="713232" y="1611625"/>
            <a:ext cx="1538355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/>
              </a:rPr>
              <a:t>LAYER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3" name="Rectangle 8">
            <a:extLst>
              <a:ext uri="{FF2B5EF4-FFF2-40B4-BE49-F238E27FC236}">
                <a16:creationId xmlns:a16="http://schemas.microsoft.com/office/drawing/2014/main" id="{85D7F908-4834-A9E5-0D9B-A0B393586509}"/>
              </a:ext>
            </a:extLst>
          </p:cNvPr>
          <p:cNvSpPr/>
          <p:nvPr/>
        </p:nvSpPr>
        <p:spPr>
          <a:xfrm>
            <a:off x="2706790" y="1563212"/>
            <a:ext cx="5074920" cy="297409"/>
          </a:xfrm>
          <a:prstGeom prst="rect">
            <a:avLst/>
          </a:prstGeom>
          <a:solidFill>
            <a:srgbClr val="0070C0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CB7D2FE3-7E3C-0BE7-941B-9CEC2C47BBB7}"/>
              </a:ext>
            </a:extLst>
          </p:cNvPr>
          <p:cNvSpPr txBox="1"/>
          <p:nvPr/>
        </p:nvSpPr>
        <p:spPr>
          <a:xfrm>
            <a:off x="3952057" y="1587941"/>
            <a:ext cx="1538355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/>
              </a:rPr>
              <a:t>RESPONSABILITÀ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300" b="1">
                <a:solidFill>
                  <a:srgbClr val="0B1F33"/>
                </a:solidFill>
                <a:latin typeface="Aptos Display"/>
              </a:rPr>
              <a:t>Il Catalogo Tecnologico — Layer Applicativi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86868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D52B1E"/>
                </a:solidFill>
                <a:latin typeface="Aptos"/>
              </a:rPr>
              <a:t>L1 Presentation  ·  L2 BPM  ·  L3 Decision  ·  L4 AI &amp; Agentic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047488" cy="34747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58384" y="1719072"/>
            <a:ext cx="347472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773936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L1 ·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66544"/>
            <a:ext cx="504748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React 19 + TypeScript 5.7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134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3225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23134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SSR con Next.js — design system Tailwind / shadcn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676144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7127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Apache APISIX 3.x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30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9321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" y="29230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18.000 QPS — hot-reload, plugin OSS, rate limiting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85744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3223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Keycloak 24.x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326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5417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" y="35326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OIDC, SAML 2.0, RBAC/ABAC, federazione AD/Entra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8736" y="1719072"/>
            <a:ext cx="5047488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88752" y="1719072"/>
            <a:ext cx="347472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25328" y="1773936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1773936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L2 · BPM &amp; 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2066544"/>
            <a:ext cx="504748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61888" y="21031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Flowable 7.x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23134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0176" y="23225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23134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BPMN 2.0, CMMN, human task, form engine, worklist HA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736" y="2676144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1888" y="27127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Kogito (Quarkus/Spring Boot)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1888" y="29230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0176" y="29321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29230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BPM cloud-native embedded — DMN, saga, event-driven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8736" y="3285744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61888" y="33223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Spring Boot 3.3+ / Java 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1888" y="35326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0176" y="35417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35326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Virtual Threads, LTS 2031 — stack backend primario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023360"/>
            <a:ext cx="5047488" cy="347472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58384" y="4023360"/>
            <a:ext cx="347472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4078224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078224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L3 · Decision &amp; Rules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370832"/>
            <a:ext cx="5047488" cy="1737359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407408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Drools 8.x / KIE Server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617720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4626864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3624" y="4617720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DRL, DMN 1.4, Decision Tables — hot-reload a runtime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523951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527608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KIE Server REST 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548639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549554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63624" y="548639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Microservizio autonomo — nessun accoppiamento al BPM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88736" y="4023360"/>
            <a:ext cx="5047488" cy="347472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588752" y="4023360"/>
            <a:ext cx="347472" cy="347472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25328" y="4078224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61888" y="4078224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L4 · AI &amp; Agentic  [ slot riservato 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88736" y="4370832"/>
            <a:ext cx="5047488" cy="1737359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61888" y="4407408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Ollama 0.6.x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61888" y="4617720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80176" y="4626864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MIT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3992" y="4617720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LLM self-hosted (Llama 3, Mistral, Phi-3) — GDPR-safe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88736" y="494995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61888" y="498652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LangGraph 0.3.x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1888" y="519683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80176" y="520598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MIT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93992" y="519683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Agenti con stato, human-in-the-loop (AI Act Art. 14)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88736" y="552907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61888" y="556564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Qdrant 1.x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61888" y="577595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80176" y="578510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93992" y="577595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Vector store — ricerca ibrida dense+sparse, RAG on-prem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● obbligatorio Enterprise   ◐ raccomandato Enterprise   |   L4 non attivato nella baseline — slot attivabile su caso d'uso verificato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300" b="1">
                <a:solidFill>
                  <a:srgbClr val="0B1F33"/>
                </a:solidFill>
                <a:latin typeface="Aptos Display"/>
              </a:rPr>
              <a:t>Il Catalogo Tecnologico — Layer di Piattaforma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86868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D52B1E"/>
                </a:solidFill>
                <a:latin typeface="Aptos"/>
              </a:rPr>
              <a:t>L5 Document  ·  L6 Integration  ·  L7 Process Mining  ·  L8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047488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58384" y="1719072"/>
            <a:ext cx="347472" cy="347472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773936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L5 · Document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66544"/>
            <a:ext cx="5047488" cy="1737359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Alfresco CE 23.x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134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3225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LGPL 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23134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ECM enterprise — CMIS 1.1, versioning, OCR, full-text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35223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971799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MinIO / S3-compatible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82111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191255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AGPL 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" y="3182111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Object storage base — allegati, binari, metadati su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8736" y="1719072"/>
            <a:ext cx="5047488" cy="347472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88752" y="1719072"/>
            <a:ext cx="347472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25328" y="1773936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1773936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L6 · Integration &amp; Messaging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8736" y="2066544"/>
            <a:ext cx="5047488" cy="1737359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61888" y="2103120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Apache Camel 4.x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1888" y="2313432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0176" y="2322576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2313432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EIP — SOAP, SFTP, JMS, SAP, retry, dead letter queue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2645663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61888" y="2682239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Apache Kafka 3.7 KRaft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2892551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0176" y="2901695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2892551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Event streaming — no ZooKeeper, schema registry OSS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736" y="3224783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1888" y="3261359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RabbitMQ 3.13+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1888" y="3471671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0176" y="3480815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MPL 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3471671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Code applicative — retry, dead letter, disaccoppiamento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931919"/>
            <a:ext cx="5047488" cy="347472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358384" y="3931919"/>
            <a:ext cx="347472" cy="347472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94960" y="3986783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986783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L7 · Process Mining &amp; Analytics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279391"/>
            <a:ext cx="504748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3159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PM4Py 2.7.x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5262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" y="45354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LGPL 3.0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3624" y="45262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Alpha/Inductive Miner, conformance, OCEL 2.0, KPI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19379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2303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Apache Superset 4.x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4406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54498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3624" y="54406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Dashboard BI — visualizzazione KPI e SLA su PostgreSQL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88736" y="3931919"/>
            <a:ext cx="5047488" cy="34747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588752" y="3931919"/>
            <a:ext cx="347472" cy="34747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25328" y="3986783"/>
            <a:ext cx="25603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3986783"/>
            <a:ext cx="459028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L8 · Infrastructure &amp; Security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88736" y="4279391"/>
            <a:ext cx="5047488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43159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Kubernetes 1.30+ / OKD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61888" y="45262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80176" y="45354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3992" y="45262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Orchestrazione — multi-AZ, HPA, rolling update, DR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88736" y="473659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61888" y="47731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ArgoCD 2.11.x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61888" y="49834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80176" y="49926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3992" y="49834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GitOps — deploy da Git, audit trail, rollback automatico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88736" y="519379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61888" y="52303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OpenBao 0.3.x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1888" y="54406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80176" y="54498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93992" y="54406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Secrets management — fork OSS Vault, PKI, dynamic secrets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88736" y="5650991"/>
            <a:ext cx="5047488" cy="9144"/>
          </a:xfrm>
          <a:prstGeom prst="rect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61888" y="5687567"/>
            <a:ext cx="493776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OpenTelemetry + Grafana stack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61888" y="5897879"/>
            <a:ext cx="777240" cy="16459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80176" y="5907023"/>
            <a:ext cx="740664" cy="137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00" b="0">
                <a:solidFill>
                  <a:srgbClr val="183554"/>
                </a:solidFill>
                <a:latin typeface="Aptos"/>
              </a:rPr>
              <a:t>Apache 2.0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93992" y="5897879"/>
            <a:ext cx="4069080" cy="1645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Aptos"/>
              </a:rPr>
              <a:t>Metriche (Prometheus), log (Loki), tracing (Jaeger/Tempo)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" y="5961888"/>
            <a:ext cx="10094976" cy="402336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4672" y="6007608"/>
            <a:ext cx="978408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TRASVERSALE  ●  Database: PostgreSQL 16 / MariaDB (Apache 2.0 / GPL)  —  HA Patroni, JSON, full-text    ●  Cache: Valkey / Redis 7.x (BSD-3)  —  sessioni, rate limiting, lock sub-ms    ●  Cilium 1.19.x (Apache 2.0)  —  service mesh eBPF, mTLS, no sidecar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● obbligatorio Enterprise   ◐ raccomandato Enterprise   |   Fonte: DOC1 §2.3 Matrice capability  +  DOC2 Catalogo Tecnologico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5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 dirty="0" err="1">
                <a:solidFill>
                  <a:srgbClr val="0B1F33"/>
                </a:solidFill>
                <a:latin typeface="Aptos Display"/>
              </a:rPr>
              <a:t>Flusso</a:t>
            </a:r>
            <a:r>
              <a:rPr sz="2500" b="1" dirty="0">
                <a:solidFill>
                  <a:srgbClr val="0B1F33"/>
                </a:solidFill>
                <a:latin typeface="Aptos Display"/>
              </a:rPr>
              <a:t> di </a:t>
            </a:r>
            <a:r>
              <a:rPr sz="2500" b="1" dirty="0" err="1">
                <a:solidFill>
                  <a:srgbClr val="0B1F33"/>
                </a:solidFill>
                <a:latin typeface="Aptos Display"/>
              </a:rPr>
              <a:t>interazione</a:t>
            </a:r>
            <a:r>
              <a:rPr sz="2500" b="1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500" b="1" dirty="0" err="1">
                <a:solidFill>
                  <a:srgbClr val="0B1F33"/>
                </a:solidFill>
                <a:latin typeface="Aptos Display"/>
              </a:rPr>
              <a:t>tipico</a:t>
            </a:r>
            <a:endParaRPr sz="2500" b="1" dirty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1993392" cy="46634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L1 ·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664208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1719072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Utente compila form, avvia processo o completa un task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563624" y="2093976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176272"/>
            <a:ext cx="1993392" cy="46634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249424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L2 · BPM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2176272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231136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API Gateway invia la richiesta — BPM avvia o avanza l'istanza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63624" y="2606040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2688336"/>
            <a:ext cx="1993392" cy="46634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761488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L3 ·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2688336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16352" y="2743200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BPM invoca il Rule Engine per valutare condizioni al gateway BPMN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563624" y="3118104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3200400"/>
            <a:ext cx="1993392" cy="46634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L4 · AI &amp; Agentic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24912" y="3200400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16352" y="3255264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BPM invoca AI per classificazione, estrazione dati o supporto decisionale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563624" y="3630168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3712464"/>
            <a:ext cx="1993392" cy="466344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785616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L5 · Document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24912" y="3712464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16352" y="3767328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BPM interagisce con Document Management per acquisire o recuperare documenti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563624" y="4142232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4224528"/>
            <a:ext cx="1993392" cy="46634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297680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L6 ·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24912" y="4224528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16352" y="4279392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BPM invoca Integration Layer per interazioni con sistemi esterni (ERP, CRM, legacy)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563624" y="4654296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36592"/>
            <a:ext cx="1993392" cy="46634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809744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L7 · Process Mining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24912" y="4736592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16352" y="4791456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Ogni transizione di stato BPM genera un evento consumato dal Process Mining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563624" y="5166360"/>
            <a:ext cx="182880" cy="128016"/>
          </a:xfrm>
          <a:prstGeom prst="downArrow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" y="5248656"/>
            <a:ext cx="1993392" cy="46634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321808"/>
            <a:ext cx="1883664" cy="347472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L8 · Infrastructure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24912" y="5248656"/>
            <a:ext cx="4681728" cy="46634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16352" y="5303520"/>
            <a:ext cx="4553712" cy="36576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Sostiene tutti i layer: orchestrazione, osservabilità, sicurezza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1664208"/>
            <a:ext cx="3154680" cy="347472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19" y="1709928"/>
            <a:ext cx="3044952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Aptos"/>
              </a:rPr>
              <a:t>Contratti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</a:rPr>
              <a:t>tra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 layer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2048256"/>
            <a:ext cx="3154680" cy="25603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71231" y="2084832"/>
            <a:ext cx="3044952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API REST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2322576"/>
            <a:ext cx="3154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19" y="2368296"/>
            <a:ext cx="3026664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OpenAPI 3.1 versionato · repository GitOps · generazione tipi automatica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2779776"/>
            <a:ext cx="3154680" cy="25603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71231" y="2816352"/>
            <a:ext cx="3044952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Eventi asincroni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3054096"/>
            <a:ext cx="3154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89519" y="3099816"/>
            <a:ext cx="3026664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AsyncAPI · schema registry · topic versionati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3511296"/>
            <a:ext cx="3154680" cy="25603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71231" y="3547872"/>
            <a:ext cx="3044952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Autenticazione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3785616"/>
            <a:ext cx="3154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19" y="3831336"/>
            <a:ext cx="3026664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OIDC end-to-end · Auth Code + PKCE · JWT validato al gateway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4242816"/>
            <a:ext cx="3154680" cy="25603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71231" y="4279392"/>
            <a:ext cx="3044952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Tracing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4517136"/>
            <a:ext cx="3154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89519" y="4562856"/>
            <a:ext cx="3026664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OpenTelemetry propagato dal frontend ai broker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5065776"/>
            <a:ext cx="3154680" cy="25603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71231" y="5102352"/>
            <a:ext cx="3044952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§3.3 — Attivazione progressiva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98079" y="5358384"/>
            <a:ext cx="3154680" cy="98755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89519" y="5413248"/>
            <a:ext cx="3026664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PMI: L1 + L2 + L8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19" y="5632704"/>
            <a:ext cx="3026664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PMI evoluto: + L5 + L6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19" y="5852160"/>
            <a:ext cx="3026664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Mid-Market: tutti tranne L4 e L7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19" y="6071616"/>
            <a:ext cx="3026664" cy="20116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2D7A7A"/>
                </a:solidFill>
                <a:latin typeface="Aptos"/>
              </a:rPr>
              <a:t>Enterprise / PA: tutti gli 8 layer attivi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lang="it-IT" sz="1400" b="1" dirty="0">
                <a:solidFill>
                  <a:srgbClr val="FFFFFF"/>
                </a:solidFill>
                <a:latin typeface="Aptos"/>
              </a:rPr>
              <a:t>06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56652"/>
            <a:ext cx="8229600" cy="513987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sz="2500" b="1" dirty="0">
                <a:solidFill>
                  <a:srgbClr val="0B1F33"/>
                </a:solidFill>
                <a:latin typeface="Aptos Display"/>
              </a:rPr>
              <a:t>BPM</a:t>
            </a:r>
            <a:r>
              <a:rPr lang="it-IT" sz="2500" b="1" dirty="0">
                <a:solidFill>
                  <a:srgbClr val="0B1F33"/>
                </a:solidFill>
                <a:latin typeface="Aptos Display"/>
              </a:rPr>
              <a:t> - </a:t>
            </a:r>
            <a:r>
              <a:rPr lang="it-IT" sz="2500" b="1" dirty="0" err="1">
                <a:solidFill>
                  <a:srgbClr val="0B1F33"/>
                </a:solidFill>
                <a:latin typeface="Aptos Display"/>
              </a:rPr>
              <a:t>Flowable</a:t>
            </a:r>
            <a:r>
              <a:rPr lang="it-IT" sz="2500" b="1" dirty="0">
                <a:solidFill>
                  <a:srgbClr val="0B1F33"/>
                </a:solidFill>
                <a:latin typeface="Aptos Display"/>
              </a:rPr>
              <a:t> vs </a:t>
            </a:r>
            <a:r>
              <a:rPr lang="it-IT" sz="2500" b="1" dirty="0" err="1">
                <a:solidFill>
                  <a:srgbClr val="0B1F33"/>
                </a:solidFill>
                <a:latin typeface="Aptos Display"/>
              </a:rPr>
              <a:t>Kogito</a:t>
            </a:r>
            <a:endParaRPr sz="2500" b="1" dirty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9195" y="1719072"/>
            <a:ext cx="4137203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5481" y="1764194"/>
            <a:ext cx="4909312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FLOWABLE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195" y="2108904"/>
            <a:ext cx="4137202" cy="420759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endParaRPr sz="160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80125" y="1721612"/>
            <a:ext cx="4137203" cy="34217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1600" y="1736343"/>
            <a:ext cx="3035808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KOGITO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125" y="2063782"/>
            <a:ext cx="4137203" cy="4249641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endParaRPr sz="160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4FC320F-1A46-74F9-6722-0CAE74179AF2}"/>
              </a:ext>
            </a:extLst>
          </p:cNvPr>
          <p:cNvSpPr txBox="1"/>
          <p:nvPr/>
        </p:nvSpPr>
        <p:spPr>
          <a:xfrm>
            <a:off x="779195" y="2286000"/>
            <a:ext cx="4056965" cy="3011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 err="1">
                <a:solidFill>
                  <a:srgbClr val="0B1F33"/>
                </a:solidFill>
                <a:latin typeface="Aptos"/>
              </a:rPr>
              <a:t>Flowable</a:t>
            </a:r>
            <a:r>
              <a:rPr lang="it-IT" dirty="0">
                <a:solidFill>
                  <a:srgbClr val="0B1F33"/>
                </a:solidFill>
                <a:latin typeface="Aptos"/>
              </a:rPr>
              <a:t> fornisce un motore centralizzato per l'esecuzione di workflow BPMN, la gestione delle attività umane, delle regole decisionali e dei casi complessi. 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>
                <a:solidFill>
                  <a:srgbClr val="0B1F33"/>
                </a:solidFill>
                <a:latin typeface="Aptos"/>
              </a:rPr>
              <a:t>È particolarmente adatto a scenari Enterprise che richiedono monitoraggio operativo, governance dei processi, strumenti di amministrazione dedicati e una gestione centralizzata del ciclo di vita dei workflow.</a:t>
            </a:r>
          </a:p>
          <a:p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C7C9343-B918-A8BC-9FF5-D1610FC5A1F0}"/>
              </a:ext>
            </a:extLst>
          </p:cNvPr>
          <p:cNvSpPr txBox="1"/>
          <p:nvPr/>
        </p:nvSpPr>
        <p:spPr>
          <a:xfrm>
            <a:off x="5977152" y="2286000"/>
            <a:ext cx="4060928" cy="3226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>
                <a:solidFill>
                  <a:srgbClr val="0B1F33"/>
                </a:solidFill>
                <a:latin typeface="Aptos"/>
              </a:rPr>
              <a:t>Kogito è un framework cloud-native basato su BPMN e DMN che genera codice applicativo eseguibile direttamente all'interno dei microservizi. 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>
                <a:solidFill>
                  <a:srgbClr val="0B1F33"/>
                </a:solidFill>
                <a:latin typeface="Aptos"/>
              </a:rPr>
              <a:t>I processi non vengono eseguiti da un motore BPM centralizzato, ma diventano parte integrante dell'applicazione. 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>
                <a:solidFill>
                  <a:srgbClr val="0B1F33"/>
                </a:solidFill>
                <a:latin typeface="Aptos"/>
              </a:rPr>
              <a:t>L'approccio è orientato a container, Kubernetes e architetture distribuite, favorendo scalabilità, automazione delle decisioni e integrazione nativa con ecosistemi moderni basati su eventi.</a:t>
            </a:r>
            <a:endParaRPr lang="it-IT" dirty="0">
              <a:solidFill>
                <a:srgbClr val="0B1F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23544"/>
            <a:ext cx="8229600" cy="513987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2500" b="1" dirty="0">
                <a:solidFill>
                  <a:srgbClr val="0B1F33"/>
                </a:solidFill>
                <a:latin typeface="Aptos Display"/>
              </a:rPr>
              <a:t>Sicurezza</a:t>
            </a:r>
            <a:r>
              <a:rPr lang="it-IT" i="1" dirty="0"/>
              <a:t> </a:t>
            </a:r>
            <a:r>
              <a:rPr lang="it-IT" sz="2500" b="1" dirty="0">
                <a:solidFill>
                  <a:srgbClr val="0B1F33"/>
                </a:solidFill>
                <a:latin typeface="Aptos Display"/>
              </a:rPr>
              <a:t>e Controllo Operativo</a:t>
            </a:r>
            <a:endParaRPr sz="2500" b="1" dirty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13892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755648"/>
            <a:ext cx="5138928" cy="461772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3" y="1993392"/>
            <a:ext cx="3892959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5" y="1993392"/>
            <a:ext cx="4277008" cy="38404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033875"/>
            <a:ext cx="4377988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1200" b="1" dirty="0">
                <a:solidFill>
                  <a:srgbClr val="FFFFFF"/>
                </a:solidFill>
                <a:latin typeface="Aptos"/>
              </a:rPr>
              <a:t>PROTEZIONE CONFORMITÀ NORMATIVA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0216" y="2022881"/>
            <a:ext cx="4453128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1200" b="1" dirty="0">
                <a:solidFill>
                  <a:srgbClr val="FFFFFF"/>
                </a:solidFill>
                <a:latin typeface="Aptos"/>
              </a:rPr>
              <a:t>VISIBILITÀ E CONTINUITÀ OPERATIVA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" y="2450592"/>
            <a:ext cx="4736592" cy="3588162"/>
          </a:xfrm>
          <a:prstGeom prst="rect">
            <a:avLst/>
          </a:prstGeom>
          <a:noFill/>
        </p:spPr>
        <p:txBody>
          <a:bodyPr wrap="square" lIns="128016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Gestione centralizzata delle identità e degli accessi (RBAC/ABAC)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Cifratura dei dati a riposo e in transito — standard AES-256 / TLS 1.3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Conformità GDPR: trattamento dati by design, audit </a:t>
            </a:r>
            <a:r>
              <a:rPr lang="it-IT" dirty="0" err="1"/>
              <a:t>trail</a:t>
            </a:r>
            <a:r>
              <a:rPr lang="it-IT" dirty="0"/>
              <a:t> immutabile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Conformità DORA: RTO &lt; 4h, RPO &lt; 1h, test di resilienza periodici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Tracciabilità completa di ogni operazione per audit e ispezioni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Supply chain sicura: analisi vulnerabilità ad ogni rilascio (SBOM)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208775" y="2402556"/>
            <a:ext cx="4736592" cy="3657600"/>
          </a:xfrm>
          <a:prstGeom prst="rect">
            <a:avLst/>
          </a:prstGeom>
          <a:noFill/>
        </p:spPr>
        <p:txBody>
          <a:bodyPr wrap="square" lIns="128016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Monitoraggio in tempo reale: metriche, log e tracing correlati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Rilevamento anomalie e </a:t>
            </a:r>
            <a:r>
              <a:rPr lang="it-IT" dirty="0" err="1"/>
              <a:t>alerting</a:t>
            </a:r>
            <a:r>
              <a:rPr lang="it-IT" dirty="0"/>
              <a:t> automatico su soglie operative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Ogni rilascio tracciato: autore, approvazione, </a:t>
            </a:r>
            <a:r>
              <a:rPr lang="it-IT" dirty="0" err="1"/>
              <a:t>rollback</a:t>
            </a:r>
            <a:r>
              <a:rPr lang="it-IT" dirty="0"/>
              <a:t> garantito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Aggiornamenti senza interruzione del servizio (zero-</a:t>
            </a:r>
            <a:r>
              <a:rPr lang="it-IT" dirty="0" err="1"/>
              <a:t>downtime</a:t>
            </a:r>
            <a:r>
              <a:rPr lang="it-IT" dirty="0"/>
              <a:t> </a:t>
            </a:r>
            <a:r>
              <a:rPr lang="it-IT" dirty="0" err="1"/>
              <a:t>deploy</a:t>
            </a:r>
            <a:r>
              <a:rPr lang="it-IT" dirty="0"/>
              <a:t>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Scalabilità automatica in risposta ai carichi operativi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lang="it-IT" dirty="0"/>
              <a:t>Resilienza verificata tramite simulazione periodica dei guasti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6384500"/>
            <a:ext cx="10396728" cy="498598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1200" b="1" dirty="0">
                <a:solidFill>
                  <a:srgbClr val="183554"/>
                </a:solidFill>
                <a:latin typeface="Aptos"/>
              </a:rPr>
              <a:t>Sicurezza e osservabilità sono requisiti architetturali della piattaforma — non componenti opzionali. Garantiscono la conformità normativa e la continuità dei servizi critici.</a:t>
            </a:r>
            <a:endParaRPr sz="1200" b="1" dirty="0">
              <a:solidFill>
                <a:srgbClr val="18355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Percorso di Adozione Incrementale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446020" cy="10515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235458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Step 1
Piattaforma base</a:t>
            </a:r>
          </a:p>
        </p:txBody>
      </p:sp>
      <p:sp>
        <p:nvSpPr>
          <p:cNvPr id="11" name="Chevron 10"/>
          <p:cNvSpPr/>
          <p:nvPr/>
        </p:nvSpPr>
        <p:spPr>
          <a:xfrm>
            <a:off x="312267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27248"/>
            <a:ext cx="244602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231800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Backend + frontend + DB
+ container + CI/CD
+ observability base
→ Applicazione web funzionante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7268" y="1920240"/>
            <a:ext cx="2446020" cy="105156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2132" y="2011680"/>
            <a:ext cx="235458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Step 2
BPM e IAM</a:t>
            </a:r>
          </a:p>
        </p:txBody>
      </p:sp>
      <p:sp>
        <p:nvSpPr>
          <p:cNvPr id="16" name="Chevron 15"/>
          <p:cNvSpPr/>
          <p:nvPr/>
        </p:nvSpPr>
        <p:spPr>
          <a:xfrm>
            <a:off x="575157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87268" y="3127248"/>
            <a:ext cx="244602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0420" y="3236976"/>
            <a:ext cx="231800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+ Motore BPM BPMN 2.0
+ Human task, form engine
+ Worklist utenti
+ IAM enterprise OIDC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6168" y="1920240"/>
            <a:ext cx="2446020" cy="105156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1032" y="2011680"/>
            <a:ext cx="235458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Step 3
Regole, Doc
e Integrazioni</a:t>
            </a:r>
          </a:p>
        </p:txBody>
      </p:sp>
      <p:sp>
        <p:nvSpPr>
          <p:cNvPr id="21" name="Chevron 20"/>
          <p:cNvSpPr/>
          <p:nvPr/>
        </p:nvSpPr>
        <p:spPr>
          <a:xfrm>
            <a:off x="838047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16168" y="3127248"/>
            <a:ext cx="244602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3236976"/>
            <a:ext cx="231800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+ Rule engine DMN
+ Hot-reload regole
+ Document management
+ Integration EIP legacy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5068" y="1920240"/>
            <a:ext cx="2446020" cy="1051560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9932" y="2011680"/>
            <a:ext cx="235458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Step 4
Enterprise
completo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5068" y="3127248"/>
            <a:ext cx="244602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18220" y="3236976"/>
            <a:ext cx="231800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+ Kafka event streaming
+ Process mining
+ Service mesh Cilium
+ HA multi-AZ + DORA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Il passaggio tra step è guidato da criteri oggettivi (volume, SLA, compliance) — non da timeline prestabilite.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749808"/>
            <a:ext cx="1325880" cy="36576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813816"/>
            <a:ext cx="1005840" cy="16459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7772400" cy="6400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Poste Italiane — Architettura applicata al contesto reale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7772400" cy="50292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800" b="0">
                <a:solidFill>
                  <a:srgbClr val="F7F3EE"/>
                </a:solidFill>
                <a:latin typeface="Aptos"/>
              </a:rPr>
              <a:t>Caso d'uso: ANC — Attivazione Nuova Carta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098280" y="0"/>
            <a:ext cx="3474720" cy="6858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9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26196" y="469493"/>
            <a:ext cx="1207008" cy="38404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27947" y="494738"/>
            <a:ext cx="1024128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9326880" cy="513987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2400" b="1" dirty="0">
                <a:solidFill>
                  <a:srgbClr val="0B1F33"/>
                </a:solidFill>
                <a:latin typeface="Aptos Display"/>
              </a:rPr>
              <a:t>Vincoli Architetturali Poste: i Punti Fermi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1755648" cy="42062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Vincolo dichiarato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664208"/>
            <a:ext cx="2148840" cy="42062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1719072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Valore Poste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664208"/>
            <a:ext cx="6053328" cy="42062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2584" y="1719072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Risposta architetturale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084832"/>
            <a:ext cx="175564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139696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 dirty="0">
                <a:solidFill>
                  <a:srgbClr val="183554"/>
                </a:solidFill>
                <a:latin typeface="Aptos"/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2084832"/>
            <a:ext cx="2148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96312" y="2139696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MariaDB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084832"/>
            <a:ext cx="60533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72584" y="2139696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Supportato nativamente — alternativa validata a PostgreSQL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05456"/>
            <a:ext cx="175564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560320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41448" y="2505456"/>
            <a:ext cx="2148840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6312" y="2560320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Java / OpenJDK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505456"/>
            <a:ext cx="605332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72584" y="2560320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Spring Boot 3.3+ su Java 21 LTS — stack primario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926080"/>
            <a:ext cx="175564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2980944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1448" y="2926080"/>
            <a:ext cx="2148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96312" y="2980944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React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926080"/>
            <a:ext cx="60533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2584" y="2980944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React 19 + TypeScript 5.7 — standard UI Poste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346704"/>
            <a:ext cx="175564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3401568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Identità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41448" y="3346704"/>
            <a:ext cx="2148840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6312" y="3401568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AD / Entra ID / Oracle IAM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3346704"/>
            <a:ext cx="605332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72584" y="3401568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Keycloak 24 — federazione AD, RBAC gerarchico, OIDC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767328"/>
            <a:ext cx="175564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3822192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Sicurezza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41448" y="3767328"/>
            <a:ext cx="2148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96312" y="3822192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OAuth 2.0 + TLS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3767328"/>
            <a:ext cx="60533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72584" y="3822192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P3 Zero Trust: JWT, TLS 1.3, mutual auth strutturale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187952"/>
            <a:ext cx="175564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" y="4242816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41448" y="4187952"/>
            <a:ext cx="2148840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96312" y="4242816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Pluggable S3 / FS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4187952"/>
            <a:ext cx="605332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72584" y="4242816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MinIO S3-compatible — astrazione sostituibile senza impatto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608576"/>
            <a:ext cx="175564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4663440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Deploy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41448" y="4608576"/>
            <a:ext cx="2148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96312" y="4663440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Container + Kubernetes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4608576"/>
            <a:ext cx="60533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72584" y="4663440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P2 Cloud-native: Docker Compose (POC) → K8s (produzione)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029200"/>
            <a:ext cx="175564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3232" y="5084064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Protocolli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41448" y="5029200"/>
            <a:ext cx="2148840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96312" y="5084064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REST, SFTP, MQ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5029200"/>
            <a:ext cx="605332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72584" y="5084064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Apache Camel 4 EIP — connettori nativi per tutti i protocolli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449824"/>
            <a:ext cx="175564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13232" y="5504688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Autorizzazione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41448" y="5449824"/>
            <a:ext cx="21488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496312" y="5504688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RBAC gerarchico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5449824"/>
            <a:ext cx="6053328" cy="42062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672584" y="5504688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Keycloak realm + gruppi gerarchici + ABAC policy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870448"/>
            <a:ext cx="175564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" y="5925312"/>
            <a:ext cx="168249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Framework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41448" y="5870448"/>
            <a:ext cx="2148840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96312" y="5925312"/>
            <a:ext cx="2075688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OSS maturi con LTS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5870448"/>
            <a:ext cx="6053328" cy="420624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672584" y="5925312"/>
            <a:ext cx="5980176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Catalogo: solo componenti con LTS attivo e community verificata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Tutti i vincoli dichiarati da Poste sono rispettati integralmente — nessuno è stato ignorato o aggirato.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0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POC ANC: Architettura Implementata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6446520" cy="4773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792224"/>
            <a:ext cx="621792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1">
                <a:solidFill>
                  <a:srgbClr val="183554"/>
                </a:solidFill>
                <a:latin typeface="Aptos"/>
              </a:rPr>
              <a:t>Componenti implementati nella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9696"/>
            <a:ext cx="6080760" cy="3767698"/>
          </a:xfrm>
          <a:prstGeom prst="rect">
            <a:avLst/>
          </a:prstGeom>
          <a:noFill/>
        </p:spPr>
        <p:txBody>
          <a:bodyPr wrap="square" lIns="128016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Frontend: React + Vite → </a:t>
            </a:r>
            <a:r>
              <a:rPr dirty="0" err="1"/>
              <a:t>Scrivania</a:t>
            </a:r>
            <a:r>
              <a:rPr dirty="0"/>
              <a:t> </a:t>
            </a:r>
            <a:r>
              <a:rPr dirty="0" err="1"/>
              <a:t>Digitale</a:t>
            </a:r>
            <a:r>
              <a:rPr dirty="0"/>
              <a:t> (porta 81)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Backend: Spring Boot / Java — </a:t>
            </a:r>
            <a:r>
              <a:rPr dirty="0" err="1"/>
              <a:t>dominio</a:t>
            </a:r>
            <a:r>
              <a:rPr dirty="0"/>
              <a:t> ANC, API REST (porta 8081)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 err="1"/>
              <a:t>Kogito</a:t>
            </a:r>
            <a:r>
              <a:rPr dirty="0"/>
              <a:t> embedded: </a:t>
            </a:r>
            <a:r>
              <a:rPr dirty="0" err="1"/>
              <a:t>motore</a:t>
            </a:r>
            <a:r>
              <a:rPr dirty="0"/>
              <a:t> BPMN </a:t>
            </a:r>
            <a:r>
              <a:rPr dirty="0" err="1"/>
              <a:t>nello</a:t>
            </a:r>
            <a:r>
              <a:rPr dirty="0"/>
              <a:t> </a:t>
            </a:r>
            <a:r>
              <a:rPr dirty="0" err="1"/>
              <a:t>stesso</a:t>
            </a:r>
            <a:r>
              <a:rPr dirty="0"/>
              <a:t> JVM — processo "</a:t>
            </a:r>
            <a:r>
              <a:rPr dirty="0" err="1"/>
              <a:t>anc_pratica</a:t>
            </a:r>
            <a:r>
              <a:rPr dirty="0"/>
              <a:t>"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MariaDB schema "</a:t>
            </a:r>
            <a:r>
              <a:rPr dirty="0" err="1"/>
              <a:t>anc</a:t>
            </a:r>
            <a:r>
              <a:rPr dirty="0"/>
              <a:t>" (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applicativi</a:t>
            </a:r>
            <a:r>
              <a:rPr dirty="0"/>
              <a:t>) + schema "</a:t>
            </a:r>
            <a:r>
              <a:rPr dirty="0" err="1"/>
              <a:t>kogito</a:t>
            </a:r>
            <a:r>
              <a:rPr dirty="0"/>
              <a:t>" (stato BPMN)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Data Index: </a:t>
            </a:r>
            <a:r>
              <a:rPr dirty="0" err="1"/>
              <a:t>Quarkus</a:t>
            </a:r>
            <a:r>
              <a:rPr dirty="0"/>
              <a:t>, </a:t>
            </a:r>
            <a:r>
              <a:rPr dirty="0" err="1"/>
              <a:t>legge</a:t>
            </a:r>
            <a:r>
              <a:rPr dirty="0"/>
              <a:t> </a:t>
            </a:r>
            <a:r>
              <a:rPr dirty="0" err="1"/>
              <a:t>eventi</a:t>
            </a:r>
            <a:r>
              <a:rPr dirty="0"/>
              <a:t> HTTP, read-model PostgreSQL, </a:t>
            </a:r>
            <a:r>
              <a:rPr dirty="0" err="1"/>
              <a:t>GraphQL</a:t>
            </a:r>
            <a:r>
              <a:rPr dirty="0"/>
              <a:t> (:8082)</a:t>
            </a:r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KIE Management Console (:8083) </a:t>
            </a:r>
            <a:endParaRPr lang="it-IT" dirty="0"/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 err="1"/>
              <a:t>MinIO</a:t>
            </a:r>
            <a:r>
              <a:rPr dirty="0"/>
              <a:t>: object storage locale per </a:t>
            </a:r>
            <a:r>
              <a:rPr dirty="0" err="1"/>
              <a:t>allegati</a:t>
            </a:r>
            <a:r>
              <a:rPr dirty="0"/>
              <a:t> </a:t>
            </a:r>
            <a:r>
              <a:rPr dirty="0" err="1"/>
              <a:t>pratiche</a:t>
            </a:r>
            <a:r>
              <a:rPr lang="it-IT" dirty="0"/>
              <a:t> / </a:t>
            </a:r>
            <a:r>
              <a:rPr lang="it-IT" dirty="0" err="1"/>
              <a:t>MinIO</a:t>
            </a:r>
            <a:r>
              <a:rPr lang="it-IT" dirty="0"/>
              <a:t> Console(:9003)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0B1F33"/>
                </a:solidFill>
                <a:latin typeface="Aptos"/>
              </a:defRPr>
            </a:pPr>
            <a:r>
              <a:rPr dirty="0"/>
              <a:t>Stub BPM </a:t>
            </a:r>
            <a:r>
              <a:rPr dirty="0" err="1"/>
              <a:t>esterno</a:t>
            </a:r>
            <a:r>
              <a:rPr dirty="0"/>
              <a:t>: </a:t>
            </a:r>
            <a:r>
              <a:rPr dirty="0" err="1"/>
              <a:t>simula</a:t>
            </a:r>
            <a:r>
              <a:rPr dirty="0"/>
              <a:t> inbound/outbound verso </a:t>
            </a:r>
            <a:r>
              <a:rPr dirty="0" err="1"/>
              <a:t>sistema</a:t>
            </a:r>
            <a:r>
              <a:rPr dirty="0"/>
              <a:t> Poste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87768" y="1719072"/>
            <a:ext cx="4187952" cy="4773168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34072" y="1792224"/>
            <a:ext cx="3886200" cy="2560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1">
                <a:solidFill>
                  <a:srgbClr val="183554"/>
                </a:solidFill>
                <a:latin typeface="Aptos"/>
              </a:rPr>
              <a:t>Stack runtime POC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072" y="2121408"/>
            <a:ext cx="3794760" cy="438912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2167128"/>
            <a:ext cx="3703320" cy="37490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Scrivania React :81  |  KIE Console :8083/:8084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2" y="2697480"/>
            <a:ext cx="3794760" cy="6858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743200"/>
            <a:ext cx="3703320" cy="62179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Backend Spring Boot :8081
  └─ Kogito EMBEDDED (stesso JVM)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3547872"/>
            <a:ext cx="1828800" cy="47548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3593592"/>
            <a:ext cx="1737360" cy="4114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MariaDB :3308
schema anc / kogito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45168" y="3547872"/>
            <a:ext cx="1883664" cy="475488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9176" y="3593592"/>
            <a:ext cx="1792224" cy="4114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Index :8082
PostgreSQL read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4072" y="4160520"/>
            <a:ext cx="3794760" cy="384048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4206240"/>
            <a:ext cx="3703320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Aptos"/>
              </a:rPr>
              <a:t>MinIO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(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allegati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) 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C28C2-FF34-BC99-C641-95411EC50F6B}"/>
              </a:ext>
            </a:extLst>
          </p:cNvPr>
          <p:cNvSpPr/>
          <p:nvPr/>
        </p:nvSpPr>
        <p:spPr>
          <a:xfrm>
            <a:off x="7424928" y="4672584"/>
            <a:ext cx="3794760" cy="3657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3D8D8A-A86C-7829-5398-9C762F443785}"/>
              </a:ext>
            </a:extLst>
          </p:cNvPr>
          <p:cNvSpPr txBox="1"/>
          <p:nvPr/>
        </p:nvSpPr>
        <p:spPr>
          <a:xfrm>
            <a:off x="7516368" y="4764024"/>
            <a:ext cx="3685032" cy="3017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Stub BPM esterno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1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Flusso Operativo ANC nella POC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1920240" cy="10515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182880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Apertura pratica</a:t>
            </a:r>
          </a:p>
        </p:txBody>
      </p:sp>
      <p:sp>
        <p:nvSpPr>
          <p:cNvPr id="11" name="Chevron 10"/>
          <p:cNvSpPr/>
          <p:nvPr/>
        </p:nvSpPr>
        <p:spPr>
          <a:xfrm>
            <a:off x="259689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27248"/>
            <a:ext cx="192024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79222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BPM esterno → POST /api/v1/tasks
Backend salva pratica + avvia BPMN
Kogito: UserTask → stato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1920240"/>
            <a:ext cx="1920240" cy="105156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16352" y="2011680"/>
            <a:ext cx="182880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Presa in carico</a:t>
            </a:r>
          </a:p>
        </p:txBody>
      </p:sp>
      <p:sp>
        <p:nvSpPr>
          <p:cNvPr id="16" name="Chevron 15"/>
          <p:cNvSpPr/>
          <p:nvPr/>
        </p:nvSpPr>
        <p:spPr>
          <a:xfrm>
            <a:off x="470001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1488" y="3127248"/>
            <a:ext cx="192024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236976"/>
            <a:ext cx="179222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Operatore lista task sulla Scrivania
POST /tasks/{id}/accept
Kogito: UserTask Ready → Reserved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920240"/>
            <a:ext cx="1920240" cy="105156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2011680"/>
            <a:ext cx="182880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Lavorazione</a:t>
            </a:r>
          </a:p>
        </p:txBody>
      </p:sp>
      <p:sp>
        <p:nvSpPr>
          <p:cNvPr id="21" name="Chevron 20"/>
          <p:cNvSpPr/>
          <p:nvPr/>
        </p:nvSpPr>
        <p:spPr>
          <a:xfrm>
            <a:off x="680313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64608" y="3127248"/>
            <a:ext cx="192024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0" y="3236976"/>
            <a:ext cx="179222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Compilazione checklist backoffice
Caricamento allegati su MinIO
Verifica criteri di valutazione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7728" y="1920240"/>
            <a:ext cx="1920240" cy="1051560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2592" y="2011680"/>
            <a:ext cx="182880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Chiusura pratica</a:t>
            </a:r>
          </a:p>
        </p:txBody>
      </p:sp>
      <p:sp>
        <p:nvSpPr>
          <p:cNvPr id="26" name="Chevron 25"/>
          <p:cNvSpPr/>
          <p:nvPr/>
        </p:nvSpPr>
        <p:spPr>
          <a:xfrm>
            <a:off x="8906256" y="2331720"/>
            <a:ext cx="146304" cy="274320"/>
          </a:xfrm>
          <a:prstGeom prst="chevron">
            <a:avLst/>
          </a:prstGeom>
          <a:solidFill>
            <a:srgbClr val="E5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67728" y="3127248"/>
            <a:ext cx="192024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3236976"/>
            <a:ext cx="179222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POST /practices/{id}/intake/close
completeTask() Kogito → Completed
DELETE task dal DB ANC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0848" y="1920240"/>
            <a:ext cx="1920240" cy="1051560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2011680"/>
            <a:ext cx="1828800" cy="822960"/>
          </a:xfrm>
          <a:prstGeom prst="rect">
            <a:avLst/>
          </a:prstGeom>
          <a:noFill/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Notifica esito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0848" y="3127248"/>
            <a:ext cx="1920240" cy="2633472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3236976"/>
            <a:ext cx="1792224" cy="237744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0">
                <a:solidFill>
                  <a:srgbClr val="0B1F33"/>
                </a:solidFill>
                <a:latin typeface="Aptos"/>
              </a:rPr>
              <a:t>Backend → esito al BPM esterno
Pratica → CHIUSA_OK / CHIUSA_KO
Data Index aggiorna storico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Ciclo di vita pratica: APERTA → IN_CODA → IN_LAVORAZIONE → IN_ATTESA_ACK → CHIUSA_OK / CHIUSA_KO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2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>
                <a:solidFill>
                  <a:srgbClr val="0B1F33"/>
                </a:solidFill>
                <a:latin typeface="Aptos Display"/>
              </a:rPr>
              <a:t>Semplificazioni POC vs Architettura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9047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1627632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64792"/>
            <a:ext cx="1581912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Aspetto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719072"/>
            <a:ext cx="2331720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59152" y="1764792"/>
            <a:ext cx="2286000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POC attuale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584" y="1719072"/>
            <a:ext cx="2926080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8304" y="1764792"/>
            <a:ext cx="2880360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Architettura Enterprise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6096" y="1719072"/>
            <a:ext cx="2926080" cy="402336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71816" y="1764792"/>
            <a:ext cx="2880360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Motivazione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121408"/>
            <a:ext cx="162763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2167128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 dirty="0" err="1">
                <a:solidFill>
                  <a:srgbClr val="0B1F33"/>
                </a:solidFill>
                <a:latin typeface="Aptos"/>
              </a:rPr>
              <a:t>Kogito</a:t>
            </a:r>
            <a:r>
              <a:rPr sz="1100" b="1" dirty="0">
                <a:solidFill>
                  <a:srgbClr val="0B1F33"/>
                </a:solidFill>
                <a:latin typeface="Aptos"/>
              </a:rPr>
              <a:t> 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3432" y="2121408"/>
            <a:ext cx="233172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50008" y="2167128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Embedded in Spring Boot (stesso JVM)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2584" y="2121408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167128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Quarkus standalone + Infinispan 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6096" y="2121408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2" y="2167128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Ridurre complessità deploy locale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523744"/>
            <a:ext cx="162763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569464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 dirty="0" err="1">
                <a:solidFill>
                  <a:srgbClr val="0B1F33"/>
                </a:solidFill>
                <a:latin typeface="Aptos"/>
              </a:rPr>
              <a:t>UserTask</a:t>
            </a:r>
            <a:r>
              <a:rPr sz="1100" b="1" dirty="0">
                <a:solidFill>
                  <a:srgbClr val="0B1F33"/>
                </a:solidFill>
                <a:latin typeface="Aptos"/>
              </a:rPr>
              <a:t> persistence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13432" y="2523744"/>
            <a:ext cx="233172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50008" y="2569464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RAM — perse al restart JVM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72584" y="2523744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60" y="2569464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JDBC addon → MariaDB persistente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6096" y="2523744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62672" y="2569464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Demo su PC, no cluster locale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926080"/>
            <a:ext cx="162763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2971800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Autenticazione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13432" y="2926080"/>
            <a:ext cx="233172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2971800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Nessuna — stub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72584" y="2926080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2971800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Keycloak 24 + AD federated, OIDC/JWT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6096" y="2926080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62672" y="2971800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IAM enterprise non disponibile in locale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328416"/>
            <a:ext cx="162763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3374136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13432" y="3328416"/>
            <a:ext cx="233172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50008" y="3374136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Docker Compose single-node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72584" y="3328416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09160" y="3374136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Kubernetes multi-AZ, HPA, GitOps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6096" y="3328416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62672" y="3374136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PC sviluppatore, no cluster locale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3730752"/>
            <a:ext cx="162763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3776472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Object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13432" y="3730752"/>
            <a:ext cx="233172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50008" y="3776472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MinIO locale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72584" y="3730752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09160" y="3776472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Storage enterprise / Alfresco CE ECM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26096" y="3730752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62672" y="3776472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Equivalente funzionale sufficiente per POC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133088"/>
            <a:ext cx="162763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4944" y="4178808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Event streaming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13432" y="4133088"/>
            <a:ext cx="233172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50008" y="4178808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Assente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72584" y="4133088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09160" y="4178808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Apache Kafka 3.7 KRaft multi-broker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26096" y="4133088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62672" y="4178808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Non necessario per flusso mono-processo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535424"/>
            <a:ext cx="162763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4944" y="4581144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API Gateway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13432" y="4535424"/>
            <a:ext cx="233172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350008" y="4581144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Reverse proxy semplice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72584" y="4535424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09160" y="4581144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Apache APISIX + policy enterprise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26096" y="4535424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62672" y="4581144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Contratti API già rispettati senza gateway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937760"/>
            <a:ext cx="162763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4944" y="4983480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Process Mining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13432" y="4937760"/>
            <a:ext cx="233172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50008" y="4983480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KIE Console — monitoraggio base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72584" y="4937760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09160" y="4983480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PM4Py + Superset — dashboard KPI/SLA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26096" y="4937760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62672" y="4983480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Vista operativa sufficiente per la POC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340096"/>
            <a:ext cx="1627632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94944" y="5385816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Layer AI (L4)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13432" y="5340096"/>
            <a:ext cx="233172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350008" y="5385816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 dirty="0">
                <a:solidFill>
                  <a:srgbClr val="0B1F33"/>
                </a:solidFill>
                <a:latin typeface="Aptos"/>
              </a:rPr>
              <a:t>Non </a:t>
            </a:r>
            <a:r>
              <a:rPr sz="1100" b="0" dirty="0" err="1">
                <a:solidFill>
                  <a:srgbClr val="0B1F33"/>
                </a:solidFill>
                <a:latin typeface="Aptos"/>
              </a:rPr>
              <a:t>presente</a:t>
            </a:r>
            <a:endParaRPr sz="1100" b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672584" y="5340096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709160" y="5385816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Slot riservato — attivabile quando serve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26096" y="5340096"/>
            <a:ext cx="29260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662672" y="5385816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Esplicitamente fuori scope POC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" y="5742432"/>
            <a:ext cx="1627632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94944" y="5788152"/>
            <a:ext cx="1591056" cy="298543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Aptos"/>
              </a:rPr>
              <a:t>Sicurezza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13432" y="5742432"/>
            <a:ext cx="233172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350008" y="5788152"/>
            <a:ext cx="229514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Nessun mTLS / zero auth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72584" y="5742432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709160" y="5788152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mTLS, OpenBao, SAST/DAST CI, SBOM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26096" y="5742432"/>
            <a:ext cx="2926080" cy="402336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62672" y="5788152"/>
            <a:ext cx="2889504" cy="34747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Sicurezza non richiesta per demo locale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4672" y="6501384"/>
            <a:ext cx="9784080" cy="22860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183554"/>
                </a:solidFill>
                <a:latin typeface="Aptos"/>
              </a:rPr>
              <a:t>Le semplificazioni riguardano il runtime — non il modello applicativo, i contratti API, il workflow o la separazione dei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47472"/>
            <a:ext cx="141732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188720" cy="2708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lang="it-IT" sz="1400" b="1" dirty="0">
                <a:solidFill>
                  <a:srgbClr val="FFFFFF"/>
                </a:solidFill>
                <a:latin typeface="Aptos"/>
              </a:rPr>
              <a:t>13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89720" y="411480"/>
            <a:ext cx="1024128" cy="27432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72016" y="429768"/>
            <a:ext cx="868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86868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 Display"/>
              </a:rPr>
              <a:t>Evoluzione layer per layer — da Docker Compose a Kubernetes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01168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162763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/ Componente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1600200"/>
            <a:ext cx="254203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59152" y="16459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POC attuale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1600200"/>
            <a:ext cx="5925312" cy="342900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9472" y="16459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Aggiunto / evoluto in produzione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431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19888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L1 ·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19431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59152" y="19888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React 19 + Vite + reverse 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9431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19888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APISIX 3.x: rate limiting, policy auth centralizzate, routing enterprise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860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3317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L1 · IAM  ⚠️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22860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59152" y="23317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Stub — nessuna autenticazione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22860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9472" y="23317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Keycloak 24: AD/Entra ID federated, OAuth 2.0, OIDC, RBAC gerarchico, SSO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6289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26746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L2 · BPM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26289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59152" y="26746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Kogito embedded in Spring Boot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26289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19472" y="2674620"/>
            <a:ext cx="5852160" cy="22467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 dirty="0">
                <a:solidFill>
                  <a:srgbClr val="2D7A7A"/>
                </a:solidFill>
                <a:latin typeface="Aptos"/>
              </a:rPr>
              <a:t>+ </a:t>
            </a:r>
            <a:r>
              <a:rPr sz="1100" b="0" dirty="0" err="1">
                <a:solidFill>
                  <a:srgbClr val="2D7A7A"/>
                </a:solidFill>
                <a:latin typeface="Aptos"/>
              </a:rPr>
              <a:t>Kogito</a:t>
            </a:r>
            <a:r>
              <a:rPr sz="1100" b="0" dirty="0">
                <a:solidFill>
                  <a:srgbClr val="2D7A7A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D7A7A"/>
                </a:solidFill>
                <a:latin typeface="Aptos"/>
              </a:rPr>
              <a:t>Quarkus</a:t>
            </a:r>
            <a:r>
              <a:rPr sz="1100" b="0" dirty="0">
                <a:solidFill>
                  <a:srgbClr val="2D7A7A"/>
                </a:solidFill>
                <a:latin typeface="Aptos"/>
              </a:rPr>
              <a:t> standalone + HA 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9718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30175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L3 · Decision  ⚠️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4288" y="29718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9152" y="30175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4608" y="29718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19472" y="30175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Drools 8 / KIE Server: automatismi esiti, criteri BO, DMN 1.4, hot-reload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3147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33604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L4 · AI  ⚠️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4288" y="33147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59152" y="33604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33147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19472" y="33604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Slot attivabile: Ollama (LLM) · LangGraph (agenti) · Qdrant (RAG) — su caso d'uso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6576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" y="37033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L5 ·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4288" y="36576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59152" y="37033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MinIO locale (S3-compatible)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36576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19472" y="37033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Alfresco CE 23: ECM, CMIS 1.1, versioning, OCR — MinIO rimane per binari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0005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40462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L6 · Integration  ⚠️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288" y="40005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59152" y="40462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Stub BPM esterno (solo REST base)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4608" y="40005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19472" y="40462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Camel 4 EIP: REST/SFTP/MQ/SOAP verso tutti i sistemi Poste enterprise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434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3232" y="43891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L6 · Streaming  ⚠️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04288" y="43434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59152" y="43891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43434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19472" y="43891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Apache Kafka 3.7 KRaft: backbone eventi, multi-consumer, schema registry, replay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6863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13232" y="47320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L7 · Process Mining ⚠️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04288" y="46863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359152" y="47320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0B1F33"/>
                </a:solidFill>
                <a:latin typeface="Aptos"/>
              </a:rPr>
              <a:t>KIE Console (monitoraggio base)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64608" y="46863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19472" y="47320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PM4Py 2.7 + Apache Superset: KPI, SLA breach, conformance, dashboard BI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0292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" y="50749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L8 · Sicurezza  ⚠️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04288" y="50292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359152" y="50749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Nessuna (rete locale isolata)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64608" y="50292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919472" y="50749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mTLS · OpenBao (PKI/segreti) · OAuth 2.0+TLS 1.3 · SAST/DAST CI · SBOM (GDPR+DORA)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53721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13232" y="54178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L8 · Infrastruttura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04288" y="53721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359152" y="54178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Docker Compose single-node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53721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19472" y="54178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Kubernetes/OKD multi-AZ · ArgoCD GitOps · Cilium · RTO &lt; 4h · RPO &lt; 1h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7150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3232" y="57607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DB · MariaDB  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04288" y="57150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359152" y="57607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MariaDB :3308 — schema anc / kogito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64608" y="57150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19472" y="57607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MariaDB HA Galera: replica multi-nodo, backup ≥ 90 gg, failover automatico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" y="6057900"/>
            <a:ext cx="16276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13232" y="61036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DB · Cache  ⚠️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04288" y="6057900"/>
            <a:ext cx="254203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359152" y="61036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B46414"/>
                </a:solidFill>
                <a:latin typeface="Aptos"/>
              </a:rPr>
              <a:t>Non attivo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4608" y="6057900"/>
            <a:ext cx="5925312" cy="342900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19472" y="61036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D7A7A"/>
                </a:solidFill>
                <a:latin typeface="Aptos"/>
              </a:rPr>
              <a:t>+ Valkey / Redis 7.x: sessioni distribuite, rate limiting, lock sub-millisecondo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" y="6400800"/>
            <a:ext cx="16276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13232" y="6446520"/>
            <a:ext cx="15544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Backend · Java  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04288" y="6400800"/>
            <a:ext cx="254203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59152" y="6446520"/>
            <a:ext cx="246888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Java 21 LTS — Spring Boot 3.3+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64608" y="6400800"/>
            <a:ext cx="5925312" cy="342900"/>
          </a:xfrm>
          <a:prstGeom prst="rect">
            <a:avLst/>
          </a:prstGeom>
          <a:solidFill>
            <a:srgbClr val="F7F3EE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919472" y="6446520"/>
            <a:ext cx="5852160" cy="27889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28B57"/>
                </a:solidFill>
                <a:latin typeface="Aptos"/>
              </a:rPr>
              <a:t>Invariato — stesso stack. Virtual Threads attivi. Scalabilità verticale e orizzontale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" y="6446520"/>
            <a:ext cx="10094976" cy="338328"/>
          </a:xfrm>
          <a:prstGeom prst="rect">
            <a:avLst/>
          </a:prstGeom>
          <a:solidFill>
            <a:srgbClr val="DEEAF5"/>
          </a:solidFill>
          <a:ln>
            <a:solidFill>
              <a:srgbClr val="DE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04672" y="6492240"/>
            <a:ext cx="978408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1">
                <a:solidFill>
                  <a:srgbClr val="183554"/>
                </a:solidFill>
                <a:latin typeface="Aptos"/>
              </a:rPr>
              <a:t>⚠️ Semplificato o assente nella POC   ✅ Attivo nella POC   |   Ogni aggiunta non richiede riscrittura — evoluzione per industrializzazione progressiva.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965960" cy="384048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1737360" cy="34471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it-IT" sz="1400" b="1" dirty="0">
                <a:solidFill>
                  <a:srgbClr val="FFFFFF"/>
                </a:solidFill>
                <a:latin typeface="Aptos"/>
              </a:rPr>
              <a:t>4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9509" y="815605"/>
            <a:ext cx="8229600" cy="53035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500" b="1" dirty="0" err="1">
                <a:solidFill>
                  <a:srgbClr val="0B1F33"/>
                </a:solidFill>
                <a:latin typeface="Aptos Display"/>
              </a:rPr>
              <a:t>Architettura</a:t>
            </a:r>
            <a:r>
              <a:rPr sz="2500" b="1" dirty="0">
                <a:solidFill>
                  <a:srgbClr val="0B1F33"/>
                </a:solidFill>
                <a:latin typeface="Aptos Display"/>
              </a:rPr>
              <a:t> Target Enterprise per Poste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202"/>
            <a:ext cx="18288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9720" y="502920"/>
            <a:ext cx="1024128" cy="292608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72016" y="521207"/>
            <a:ext cx="868680" cy="1828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588" y="1564022"/>
            <a:ext cx="2029968" cy="55778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452" y="1628030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L1 ·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1132" y="1564022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2572" y="1628030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React 19 + TypeScript  |  Apache APISIX 3.x  |  Keycloak 24 + AD / Entra ID federated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2628" y="1564022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14068" y="1628030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HTTP/REST + JWT/OIDC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588" y="2121806"/>
            <a:ext cx="2029968" cy="55778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452" y="2185814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L2 · BPM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1132" y="2121806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2572" y="2185814"/>
            <a:ext cx="4892040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 dirty="0">
                <a:solidFill>
                  <a:srgbClr val="0B1F33"/>
                </a:solidFill>
                <a:latin typeface="Aptos"/>
              </a:rPr>
              <a:t>Flowable 7 </a:t>
            </a:r>
            <a:r>
              <a:rPr lang="it-IT" sz="1200" b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|  </a:t>
            </a:r>
            <a:r>
              <a:rPr sz="1200" b="0" dirty="0" err="1">
                <a:solidFill>
                  <a:srgbClr val="0B1F33"/>
                </a:solidFill>
                <a:latin typeface="Aptos"/>
              </a:rPr>
              <a:t>Kogito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0B1F33"/>
                </a:solidFill>
                <a:latin typeface="Aptos"/>
              </a:rPr>
              <a:t>Quarkus</a:t>
            </a:r>
            <a:r>
              <a:rPr sz="1200" b="0" dirty="0">
                <a:solidFill>
                  <a:srgbClr val="0B1F33"/>
                </a:solidFill>
                <a:latin typeface="Aptos"/>
              </a:rPr>
              <a:t> standalone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2628" y="2121806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14068" y="2185814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REST + eventi Kafka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588" y="2679590"/>
            <a:ext cx="2029968" cy="55778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452" y="2743598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L3 ·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1132" y="2679590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2572" y="2743598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Drools 8 / KIE Server  |  DMN 1.4  |  Hot-reload  |  Automatismi esiti e criteri backoffice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2628" y="2679590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14068" y="2743598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REST + DMN 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588" y="3237374"/>
            <a:ext cx="2029968" cy="55778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452" y="3301382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L4 ·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1132" y="3237374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2572" y="3301382"/>
            <a:ext cx="4892040" cy="31393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r>
              <a:rPr lang="it-IT" sz="1200" dirty="0">
                <a:solidFill>
                  <a:srgbClr val="0B1F33"/>
                </a:solidFill>
                <a:latin typeface="Aptos"/>
              </a:rPr>
              <a:t>Non presente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2628" y="3237374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14068" y="3301382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REST OpenAI-compatible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588" y="3795158"/>
            <a:ext cx="2029968" cy="557784"/>
          </a:xfrm>
          <a:prstGeom prst="rect">
            <a:avLst/>
          </a:prstGeom>
          <a:solidFill>
            <a:srgbClr val="EF5442"/>
          </a:solidFill>
          <a:ln>
            <a:solidFill>
              <a:srgbClr val="EF5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9452" y="3859166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L5 · Document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1132" y="3795158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2572" y="3859166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Alfresco CE 23  |  MinIO / S3-compatible  |  CMIS 1.1  |  OCR  |  Versioning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2628" y="3795158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14068" y="3859166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CMIS 1.1 + 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588" y="4352942"/>
            <a:ext cx="2029968" cy="557784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9452" y="4416950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L6 ·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1132" y="4352942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02572" y="4416950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Apache Camel 4 (EIP)  |  Kafka 3.7 KRaft  |  RabbitMQ (code interne)  |  REST/SFTP/MQ sistemi Poste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22628" y="4352942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14068" y="4416950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REST/SOAP/JMS + Kafka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588" y="4910726"/>
            <a:ext cx="2029968" cy="557784"/>
          </a:xfrm>
          <a:prstGeom prst="rect">
            <a:avLst/>
          </a:prstGeom>
          <a:solidFill>
            <a:srgbClr val="183554"/>
          </a:solidFill>
          <a:ln>
            <a:solidFill>
              <a:srgbClr val="18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9452" y="4974734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L7 · Process Mining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11132" y="4910726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2572" y="4974734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PM4Py 2.7 + Apache Superset  |  Kafka Streams  |  Dashboard KPI + SLA + conformance checking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22628" y="4910726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14068" y="4974734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Event log XES/OCEL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588" y="5468510"/>
            <a:ext cx="2029968" cy="55778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452" y="5532518"/>
            <a:ext cx="19202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L8 · Infrastructure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11132" y="5468510"/>
            <a:ext cx="5074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02572" y="5532518"/>
            <a:ext cx="489204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200" b="0">
                <a:solidFill>
                  <a:srgbClr val="0B1F33"/>
                </a:solidFill>
                <a:latin typeface="Aptos"/>
              </a:rPr>
              <a:t>K8s/OKD multi-AZ  |  ArgoCD GitOps  |  OpenBao (Vault)  |  Cilium mTLS  |  OpenTelemetry + Grafana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2628" y="5468510"/>
            <a:ext cx="3456432" cy="557784"/>
          </a:xfrm>
          <a:prstGeom prst="rect">
            <a:avLst/>
          </a:prstGeom>
          <a:solidFill>
            <a:srgbClr val="DEEAF5"/>
          </a:solidFill>
          <a:ln>
            <a:solidFill>
              <a:srgbClr val="E5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14068" y="5532518"/>
            <a:ext cx="3246120" cy="46634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100" b="0">
                <a:solidFill>
                  <a:srgbClr val="183554"/>
                </a:solidFill>
                <a:latin typeface="Aptos"/>
              </a:rPr>
              <a:t>K8s API + OpenTelemetry</a:t>
            </a:r>
          </a:p>
        </p:txBody>
      </p:sp>
      <p:sp>
        <p:nvSpPr>
          <p:cNvPr id="6" name="Rectangle 56">
            <a:extLst>
              <a:ext uri="{FF2B5EF4-FFF2-40B4-BE49-F238E27FC236}">
                <a16:creationId xmlns:a16="http://schemas.microsoft.com/office/drawing/2014/main" id="{603A0134-59F7-CC8E-0D6F-D38858C883A9}"/>
              </a:ext>
            </a:extLst>
          </p:cNvPr>
          <p:cNvSpPr/>
          <p:nvPr/>
        </p:nvSpPr>
        <p:spPr>
          <a:xfrm>
            <a:off x="658368" y="6196054"/>
            <a:ext cx="10789920" cy="402336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7">
            <a:extLst>
              <a:ext uri="{FF2B5EF4-FFF2-40B4-BE49-F238E27FC236}">
                <a16:creationId xmlns:a16="http://schemas.microsoft.com/office/drawing/2014/main" id="{4A1B3723-54CD-FFA9-7D8E-7DCECBCDAB4D}"/>
              </a:ext>
            </a:extLst>
          </p:cNvPr>
          <p:cNvSpPr txBox="1"/>
          <p:nvPr/>
        </p:nvSpPr>
        <p:spPr>
          <a:xfrm>
            <a:off x="804672" y="6232630"/>
            <a:ext cx="1042416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Aptos"/>
              </a:rPr>
              <a:t>TRASVERSALE:  MariaDB HA Galera [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vincolo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DB]  ·  Java 21 LTS [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vincolo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backend]  ·  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Valkey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cache [performance]  ·  RBAC 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gerarchico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Keycloak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[</a:t>
            </a:r>
            <a:r>
              <a:rPr sz="900" b="1" dirty="0" err="1">
                <a:solidFill>
                  <a:srgbClr val="FFFFFF"/>
                </a:solidFill>
                <a:latin typeface="Aptos"/>
              </a:rPr>
              <a:t>vincolo</a:t>
            </a:r>
            <a:r>
              <a:rPr sz="900" b="1" dirty="0">
                <a:solidFill>
                  <a:srgbClr val="FFFFFF"/>
                </a:solidFill>
                <a:latin typeface="Aptos"/>
              </a:rPr>
              <a:t> auth]  ·  SLA ≥ 99,9%  ·  RTO &lt; 4h  ·  RPO &lt; 1h  ·  GDPR + DORA compliant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749808"/>
            <a:ext cx="1325880" cy="365760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813816"/>
            <a:ext cx="1005840" cy="164592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LUTECH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6858000" cy="6400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Il Valore per Poste Italiane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331720"/>
            <a:ext cx="708660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2670048"/>
            <a:ext cx="237744" cy="23774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615184"/>
            <a:ext cx="5943600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Aptos"/>
              </a:rPr>
              <a:t>Controllo: codice, processi e dati rimangono di Poste — nessun lock-in su piattaforma proprietaria.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328416"/>
            <a:ext cx="237744" cy="23774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3273552"/>
            <a:ext cx="5943600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Aptos"/>
              </a:rPr>
              <a:t>Portabilità: architettura container-native eseguibile su qualsiasi infrastruttura cloud o on-premise.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986784"/>
            <a:ext cx="237744" cy="23774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5943600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Aptos"/>
              </a:rPr>
              <a:t>Evolutività: dalla POC su Docker Compose all'enterprise su Kubernetes — senza riscrittura.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645152"/>
            <a:ext cx="237744" cy="237744"/>
          </a:xfrm>
          <a:prstGeom prst="rect">
            <a:avLst/>
          </a:prstGeom>
          <a:solidFill>
            <a:srgbClr val="2D7A7A"/>
          </a:solidFill>
          <a:ln>
            <a:solidFill>
              <a:srgbClr val="2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4590288"/>
            <a:ext cx="5943600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Aptos"/>
              </a:rPr>
              <a:t>Compliance strutturale: GDPR, DORA e standard enterprise come requisiti architetturali, non aggiunte.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5303520"/>
            <a:ext cx="237744" cy="237744"/>
          </a:xfrm>
          <a:prstGeom prst="rect">
            <a:avLst/>
          </a:prstGeom>
          <a:solidFill>
            <a:srgbClr val="D52B1E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248656"/>
            <a:ext cx="5943600" cy="329184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Integrazione nativa: stack costruito per AD, MQ, SFTP, REST enterprise e sistemi legacy Poste.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0"/>
            <a:ext cx="3474720" cy="6858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5029200"/>
            <a:ext cx="2651760" cy="1097280"/>
          </a:xfrm>
          <a:prstGeom prst="rect">
            <a:avLst/>
          </a:prstGeom>
          <a:noFill/>
        </p:spPr>
        <p:txBody>
          <a:bodyPr wrap="square" lIns="64008" tIns="64008" rIns="64008" bIns="6400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Controllo
Portabilità
Evoluzione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3155</Words>
  <Application>Microsoft Office PowerPoint</Application>
  <PresentationFormat>Personalizzato</PresentationFormat>
  <Paragraphs>433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Marina Landri</cp:lastModifiedBy>
  <cp:revision>2</cp:revision>
  <dcterms:created xsi:type="dcterms:W3CDTF">2013-01-27T09:14:16Z</dcterms:created>
  <dcterms:modified xsi:type="dcterms:W3CDTF">2026-06-05T13:24:23Z</dcterms:modified>
  <cp:category/>
</cp:coreProperties>
</file>