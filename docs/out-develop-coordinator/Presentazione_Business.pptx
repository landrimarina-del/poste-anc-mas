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 Fabbrica AI Lutech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Liberare le applicazioni dal vendor lock-in</a:t>
            </a:r>
            <a:br/>
            <a:br/>
            <a:r>
              <a:rPr/>
              <a:t>Lutech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Fabbrica AI Lutech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Liberare le applicazioni dal vendor lock-in</a:t>
            </a:r>
          </a:p>
          <a:p>
            <a:pPr lvl="0" indent="0" marL="0">
              <a:buNone/>
            </a:pPr>
            <a:r>
              <a:rPr/>
              <a:t>Come abbiamo automatizzato il porting da piattaforme proprietarie a stack open source enterprise-grade</a:t>
            </a:r>
          </a:p>
          <a:p>
            <a:pPr lvl="0" indent="0" marL="0">
              <a:buNone/>
            </a:pPr>
            <a:r>
              <a:rPr i="1"/>
              <a:t>Lutech —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problema: vendor lock-in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Molti clienti enterprise sono prigionieri di piattaforme proprietarie:</a:t>
            </a:r>
          </a:p>
          <a:p>
            <a:pPr lvl="0"/>
            <a:r>
              <a:rPr b="1"/>
              <a:t>Licenze milionarie</a:t>
            </a:r>
            <a:r>
              <a:rPr/>
              <a:t> (Appian, Pega, ServiceNow…)</a:t>
            </a:r>
          </a:p>
          <a:p>
            <a:pPr lvl="0"/>
            <a:r>
              <a:rPr b="1"/>
              <a:t>Dipendenza totale</a:t>
            </a:r>
            <a:r>
              <a:rPr/>
              <a:t> dal fornitore per ogni evoluzione</a:t>
            </a:r>
          </a:p>
          <a:p>
            <a:pPr lvl="0"/>
            <a:r>
              <a:rPr b="1"/>
              <a:t>Competenze rare</a:t>
            </a:r>
            <a:r>
              <a:rPr/>
              <a:t> e costose sul mercato</a:t>
            </a:r>
          </a:p>
          <a:p>
            <a:pPr lvl="0"/>
            <a:r>
              <a:rPr b="1"/>
              <a:t>Impossibilità di sostituire</a:t>
            </a:r>
            <a:r>
              <a:rPr/>
              <a:t> un componente senza riscrivere tutto</a:t>
            </a:r>
          </a:p>
          <a:p>
            <a:pPr lvl="0" indent="0" marL="1270000">
              <a:buNone/>
            </a:pPr>
            <a:r>
              <a:rPr sz="2000" i="1"/>
              <a:t>“Esiste un’alternativa enterprise-grade, open source, che non crei un nuovo lock-in?”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risposta Lutech: un metodo, non un prodotto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 documenti fondativi — </a:t>
            </a:r>
            <a:r>
              <a:rPr b="1"/>
              <a:t>IP Lutech</a:t>
            </a:r>
            <a:r>
              <a:rPr/>
              <a:t>:</a:t>
            </a:r>
          </a:p>
          <a:p>
            <a:pPr lvl="0"/>
            <a:r>
              <a:rPr b="1"/>
              <a:t>DOC1</a:t>
            </a:r>
            <a:r>
              <a:rPr/>
              <a:t> — Architettura di Riferimento BPM Open Source</a:t>
            </a:r>
          </a:p>
          <a:p>
            <a:pPr lvl="0"/>
            <a:r>
              <a:rPr b="1"/>
              <a:t>DOC2</a:t>
            </a:r>
            <a:r>
              <a:rPr/>
              <a:t> — Catalogo Tecnologico (componenti valutati e selezionati)</a:t>
            </a:r>
          </a:p>
          <a:p>
            <a:pPr lvl="0"/>
            <a:r>
              <a:rPr b="1"/>
              <a:t>DOC3</a:t>
            </a:r>
            <a:r>
              <a:rPr/>
              <a:t> — Sizing e Costi</a:t>
            </a:r>
          </a:p>
          <a:p>
            <a:pPr lvl="0" indent="0" marL="0">
              <a:buNone/>
            </a:pPr>
            <a:r>
              <a:rPr b="1"/>
              <a:t>Principio cardine: no vendor lock-in</a:t>
            </a:r>
            <a:r>
              <a:rPr/>
              <a:t> Ogni componente è sostituibile senza riscrivere l’applicazione.</a:t>
            </a:r>
          </a:p>
          <a:p>
            <a:pPr lvl="0" indent="0" marL="0">
              <a:buNone/>
            </a:pPr>
            <a:r>
              <a:rPr/>
              <a:t>Standard aperti: BPMN 2.0 · OpenAPI · OIDC · AsyncAPI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Perché AI multi-agente (MAS)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 un singolo LLM — un team di agenti specialistici coordinati.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Caratteristica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Beneficio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Specializzazione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Ogni agente è esperto del suo dominio (BPM, DB, UX, codice)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Parallelismo controllato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Più agenti lavorano insieme, in parallelo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Cross-validation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 Coordinator verifica la consistenza tra deliverable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Output strutturati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Documenti machine-readable passati automaticamente alla fase successiva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Risultato</a:t>
            </a:r>
            <a:r>
              <a:rPr/>
              <a:t>: precisione, velocità e qualità verificabile.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Fabbrica AI: catena completa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DOC LUTECH + DOC CLIENTE          EXPORT APPIAN
        │                                │
        ▼                                ▼
┌─────────────────┐            ┌─────────────────┐
│  MAS DISCOVERY  │            │  MAS REVERSE    │
│  Coord+BA+Arch  │            │  Coord+5 spec.  │
│  +DBA+UX        │            │                 │
└─────────────────┘            └─────────────────┘
        │                                │
        ▼                                ▼
┌─────────────────┐            ┌─────────────────┐
│ MAS DEVELOP V1  │  ─────►    │  MAS GAP        │
│ 10 sprint       │            │  Confronta V1   │
│ Spring+Flowable │            │  vs Appian      │
└─────────────────┘            └─────────────────┘
                                        │
                                        ▼
                               ┌─────────────────┐
                               │ MAS DEVELOP V2  │
                               │ +6 sprint       │
                               └─────────────────┘
                                        │
                                        ▼
                               ┌─────────────────┐
                               │  MAS MIGRAZIONE │
                               │  V3: Kogito     │
                               └─────────────────┘</a:t>
            </a:r>
          </a:p>
          <a:p>
            <a:pPr lvl="0" indent="0" marL="0">
              <a:buNone/>
            </a:pPr>
            <a:r>
              <a:rPr/>
              <a:t>Ogni MAS ha un Coordinator che assegna, controlla e passa i deliverable al MAS successivo automaticamente.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numeri della fabbrica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 orchestrati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  <a:r>
                        <a:rPr/>
                        <a:t> (Discovery, Reverse, GAP, Develop)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Versioni del software prodotte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  <a:r>
                        <a:rPr/>
                        <a:t> (V1, V2, V3 Kogito)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Sprint completati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</a:t>
                      </a:r>
                      <a:r>
                        <a:rPr/>
                        <a:t> (10 V1 + 6 V2)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Documenti analisi prodotti dal Reverse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  <a:r>
                        <a:rPr/>
                        <a:t> (funzionale, BPM, tecnico, DB, UX)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 mappate dal Business Analyst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Oggetti Appian analizzati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130+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 model BPM analizzati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Container Docker in produzione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Tutto generato da agenti AI, validato e tracciato.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caso reale: Poste Italiane — ANC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Attivazione Nuova Carta</a:t>
            </a:r>
            <a:r>
              <a:rPr/>
              <a:t> — oggi su Appian (proprietario)</a:t>
            </a:r>
          </a:p>
          <a:p>
            <a:pPr lvl="0" indent="0" marL="0">
              <a:buNone/>
            </a:pPr>
            <a:r>
              <a:rPr b="1"/>
              <a:t>Input forniti dal cliente:</a:t>
            </a:r>
          </a:p>
          <a:p>
            <a:pPr lvl="0"/>
            <a:r>
              <a:rPr/>
              <a:t>Backlog funzionale</a:t>
            </a:r>
          </a:p>
          <a:p>
            <a:pPr lvl="0"/>
            <a:r>
              <a:rPr/>
              <a:t>Manuale utente</a:t>
            </a:r>
          </a:p>
          <a:p>
            <a:pPr lvl="0"/>
            <a:r>
              <a:rPr/>
              <a:t>Test book</a:t>
            </a:r>
          </a:p>
          <a:p>
            <a:pPr lvl="0"/>
            <a:r>
              <a:rPr/>
              <a:t>Documenti di interfaccia BPM</a:t>
            </a:r>
          </a:p>
          <a:p>
            <a:pPr lvl="0" indent="0" marL="0">
              <a:buNone/>
            </a:pPr>
            <a:r>
              <a:rPr b="1"/>
              <a:t>Output MAS Discovery + MAS Develop V1:</a:t>
            </a:r>
          </a:p>
          <a:p>
            <a:pPr lvl="0"/>
            <a:r>
              <a:rPr/>
              <a:t>Architettura applicativa open source completa</a:t>
            </a:r>
          </a:p>
          <a:p>
            <a:pPr lvl="0"/>
            <a:r>
              <a:rPr/>
              <a:t>10 sprint completati end-to-end</a:t>
            </a:r>
          </a:p>
          <a:p>
            <a:pPr lvl="0"/>
            <a:r>
              <a:rPr/>
              <a:t>Applicazione funzionante: Spring Boot 3 + Flowable + React + MariaDB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Reverse Engineering: anche senza documenti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Cosa succede se i documenti del cliente non bastano — o non ci sono?</a:t>
            </a:r>
          </a:p>
          <a:p>
            <a:pPr lvl="0" indent="0" marL="0">
              <a:buNone/>
            </a:pPr>
            <a:r>
              <a:rPr/>
              <a:t>Il </a:t>
            </a:r>
            <a:r>
              <a:rPr b="1"/>
              <a:t>MAS Reverse Engineering</a:t>
            </a:r>
            <a:r>
              <a:rPr/>
              <a:t> legge direttamente l’applicazione legacy.</a:t>
            </a:r>
          </a:p>
          <a:p>
            <a:pPr lvl="0" indent="0" marL="0">
              <a:buNone/>
            </a:pPr>
            <a:r>
              <a:rPr b="1"/>
              <a:t>Input</a:t>
            </a:r>
            <a:r>
              <a:rPr/>
              <a:t>: export XML applicazione Appian </a:t>
            </a:r>
            <a:r>
              <a:rPr>
                <a:latin typeface="Courier"/>
              </a:rPr>
              <a:t>BOA_ANC</a:t>
            </a:r>
            <a:r>
              <a:rPr/>
              <a:t> - 130+ oggetti analizzati - 20 process model BPM - 18 datatype business</a:t>
            </a:r>
          </a:p>
          <a:p>
            <a:pPr lvl="0" indent="0" marL="0">
              <a:buNone/>
            </a:pPr>
            <a:r>
              <a:rPr b="1"/>
              <a:t>Output</a:t>
            </a:r>
            <a:r>
              <a:rPr/>
              <a:t>: 5 documenti di analisi completi, generati automaticamente.</a:t>
            </a:r>
          </a:p>
          <a:p>
            <a:pPr lvl="0" indent="0" marL="1270000">
              <a:buNone/>
            </a:pPr>
            <a:r>
              <a:rPr sz="2000" i="1"/>
              <a:t>Questo è uno dei messaggi commerciali più forti: nei progetti enterprise reali, la documentazione aggiornata spesso non esiste. Il metodo funziona lo stesso.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GAP: confronto tra sviluppato e reale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</a:t>
            </a:r>
            <a:r>
              <a:rPr b="1"/>
              <a:t>MAS GAP</a:t>
            </a:r>
            <a:r>
              <a:rPr/>
              <a:t> trova le differenze tra la V1 costruita e l’applicazione Appian reale.</a:t>
            </a:r>
          </a:p>
          <a:p>
            <a:pPr lvl="0" indent="0">
              <a:buNone/>
            </a:pPr>
            <a:r>
              <a:rPr>
                <a:latin typeface="Courier"/>
              </a:rPr>
              <a:t>V1 software costruito (codice reale)
            VS
Documenti MAS Reverse (analisi Appian reale)
            │
            ▼
   Delta verificabile
   Non teorico, su codice reale</a:t>
            </a:r>
          </a:p>
          <a:p>
            <a:pPr lvl="0" indent="0" marL="0">
              <a:buNone/>
            </a:pPr>
            <a:r>
              <a:rPr/>
              <a:t>Coordinator + Backend + Frontend + QA</a:t>
            </a:r>
          </a:p>
          <a:p>
            <a:pPr lvl="0" indent="0" marL="0">
              <a:buNone/>
            </a:pPr>
            <a:r>
              <a:rPr b="1"/>
              <a:t>Output</a:t>
            </a:r>
            <a:r>
              <a:rPr/>
              <a:t>: documenti GAP con analisi di impatto, rischi, remediazione → input automatico al MAS Develop V2.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V2: colmare i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MAS Develop GAP</a:t>
            </a:r>
            <a:r>
              <a:rPr/>
              <a:t> — sprint 11 → 16</a:t>
            </a:r>
          </a:p>
          <a:p>
            <a:pPr lvl="0"/>
            <a:r>
              <a:rPr b="1"/>
              <a:t>6 sprint</a:t>
            </a:r>
            <a:r>
              <a:rPr/>
              <a:t> aggiuntivi</a:t>
            </a:r>
          </a:p>
          <a:p>
            <a:pPr lvl="0"/>
            <a:r>
              <a:rPr/>
              <a:t>Colma le differenze tra V1 e comportamento reale Appian</a:t>
            </a:r>
          </a:p>
          <a:p>
            <a:pPr lvl="0"/>
            <a:r>
              <a:rPr/>
              <a:t>Stesso stack, nuovi task guidati dal GAP</a:t>
            </a:r>
          </a:p>
          <a:p>
            <a:pPr lvl="0" indent="0" marL="0">
              <a:buNone/>
            </a:pPr>
            <a:r>
              <a:rPr b="1"/>
              <a:t>V2: applicazione allineata alla realtà legacy</a:t>
            </a:r>
          </a:p>
          <a:p>
            <a:pPr lvl="0" indent="0" marL="0">
              <a:buNone/>
            </a:pPr>
            <a:r>
              <a:rPr/>
              <a:t>Stack: Spring Boot 3 + Flowable + React + MariaDB + MinIO</a:t>
            </a:r>
          </a:p>
          <a:p>
            <a:pPr lvl="0"/>
            <a:r>
              <a:rPr b="1"/>
              <a:t>7 container</a:t>
            </a:r>
            <a:r>
              <a:rPr/>
              <a:t> Docker</a:t>
            </a:r>
          </a:p>
          <a:p>
            <a:pPr lvl="0"/>
            <a:r>
              <a:rPr/>
              <a:t>Avviabile con </a:t>
            </a:r>
            <a:r>
              <a:rPr>
                <a:latin typeface="Courier"/>
              </a:rPr>
              <a:t>docker compose up</a:t>
            </a:r>
          </a:p>
          <a:p>
            <a:pPr lvl="0"/>
            <a:r>
              <a:rPr/>
              <a:t>Demo end-to-end: apertura → lavorazione → checklist → chiusura → callback BPM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V3: la prova della sostituibilità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Migrazione Flowable → Kogito, fatta interamente da agenti.</a:t>
            </a:r>
          </a:p>
          <a:p>
            <a:pPr lvl="0" indent="0" marL="0">
              <a:buNone/>
            </a:pPr>
            <a:r>
              <a:rPr/>
              <a:t>Due filosofie BPM a confronto: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V1/V2 — Flowable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 — Kogito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Paradigma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Workflow-centric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Domain-centric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parole semplici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 processo </a:t>
                      </a:r>
                      <a:r>
                        <a:rPr i="1"/>
                        <a:t>è</a:t>
                      </a:r>
                      <a:r>
                        <a:rPr/>
                        <a:t> il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 software </a:t>
                      </a:r>
                      <a:r>
                        <a:rPr i="1"/>
                        <a:t>è</a:t>
                      </a:r>
                      <a:r>
                        <a:rPr/>
                        <a:t> il dominio (pratica, cliente). Il processo orchestra.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Cambio processo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= cambi il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= aggiorni una regola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Spring Boot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Quarkus / Red Hat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Il motore BPM è un componente intercambiabile. L’applicazione sopravvive alla sostituzione.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Architettura POC vs Target enterprise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DOC1 definisce </a:t>
            </a:r>
            <a:r>
              <a:rPr b="1"/>
              <a:t>8 layer</a:t>
            </a:r>
            <a:r>
              <a:rPr/>
              <a:t>. La POC ne attiva alcuni in modo </a:t>
            </a:r>
            <a:r>
              <a:rPr b="1"/>
              <a:t>consapevolmente semplificato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L1 — Presentation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+ Next.js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SPA + Vite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L2 — BPM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Servizio dedicato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Embedded → Kogito V3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L3 — Rules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Drools / KIE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Logica embedded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L4 — 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+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 attivato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L5 — Document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ECM + OCR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MinIO S3-compatible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L6 —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Sistemi reali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Stub container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L7 — Process Mining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PM4Py + 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 attivato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L8 — 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K8s + APISIX + Keycloak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 Compose + NGINX + Basic Auth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Ogni semplificazione è reversibile senza riscrivere l’applicazione.</a:t>
            </a:r>
            <a:r>
              <a:rPr/>
              <a:t> Contratti, bounded context e workflow BPMN sono </a:t>
            </a:r>
            <a:r>
              <a:rPr b="1"/>
              <a:t>invarianti</a:t>
            </a:r>
            <a:r>
              <a:rPr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Roadmap: il metodo si affina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Ogni iterazione produce agenti più precisi.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Trasformazione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Metodo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 documenti a software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 Discovery + Develop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 vs applicazione reale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 Reverse + GAP + Develop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Flowable → Kogito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Agenti specializzati BPM migration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Monolite → Microservizi Quarkus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Agenti chirurgici per decomposizione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V4 — prossimo passo</a:t>
            </a:r>
          </a:p>
          <a:p>
            <a:pPr lvl="0" indent="0" marL="0">
              <a:buNone/>
            </a:pPr>
            <a:r>
              <a:rPr/>
              <a:t>Stessa applicazione ANC, architettura a microservizi Quarkus. Agenti addestrati per quella migrazione: </a:t>
            </a:r>
            <a:r>
              <a:rPr b="1"/>
              <a:t>più precisi</a:t>
            </a:r>
            <a:r>
              <a:rPr/>
              <a:t>, </a:t>
            </a:r>
            <a:r>
              <a:rPr b="1"/>
              <a:t>più chirurgici</a:t>
            </a:r>
            <a:r>
              <a:rPr/>
              <a:t>, con controlli embedded che prevengono gli errori tipici.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risparmia il cliente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Costi diretti:</a:t>
            </a:r>
            <a:r>
              <a:rPr/>
              <a:t> - Niente licenze BPM proprietarie (Appian Enterprise: centinaia di k€/anno) - Niente vincoli di rinnovo o aumento listino</a:t>
            </a:r>
          </a:p>
          <a:p>
            <a:pPr lvl="0" indent="0" marL="0">
              <a:buNone/>
            </a:pPr>
            <a:r>
              <a:rPr b="1"/>
              <a:t>Costi indiretti:</a:t>
            </a:r>
            <a:r>
              <a:rPr/>
              <a:t> - Indipendenza dal fornitore originale - Competenze reperibili sul mercato (Java, React, BPMN — non skill proprietarie) - Riduzione drastica del time-to-market per il porting</a:t>
            </a:r>
          </a:p>
          <a:p>
            <a:pPr lvl="0" indent="0" marL="0">
              <a:buNone/>
            </a:pPr>
            <a:r>
              <a:rPr b="1"/>
              <a:t>Costi nascosti evitati:</a:t>
            </a:r>
            <a:r>
              <a:rPr/>
              <a:t> - Niente “re-platform” futuro: l’architettura cresce per evoluzione - Componenti sostituibili senza riscrivere l’applicazione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live disponibile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 POC è funzionante e dimostrabile.</a:t>
            </a:r>
          </a:p>
          <a:p>
            <a:pPr lvl="0" indent="0" marL="0">
              <a:buNone/>
            </a:pPr>
            <a:r>
              <a:rPr/>
              <a:t>Stack completo avviabile localmente: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compose up -d</a:t>
            </a:r>
          </a:p>
          <a:p>
            <a:pPr lvl="0" indent="0" marL="0">
              <a:buNone/>
            </a:pPr>
            <a:r>
              <a:rPr/>
              <a:t>5 minuti per vedere il </a:t>
            </a:r>
            <a:r>
              <a:rPr b="1"/>
              <a:t>ciclo end-to-end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Apertura pratica via stub BPM</a:t>
            </a:r>
          </a:p>
          <a:p>
            <a:pPr lvl="0" indent="-342900" marL="342900">
              <a:buAutoNum type="arabicPeriod"/>
            </a:pPr>
            <a:r>
              <a:rPr/>
              <a:t>Presa in carico operatore</a:t>
            </a:r>
          </a:p>
          <a:p>
            <a:pPr lvl="0" indent="-342900" marL="342900">
              <a:buAutoNum type="arabicPeriod"/>
            </a:pPr>
            <a:r>
              <a:rPr/>
              <a:t>Tipizzazione documento + viewer</a:t>
            </a:r>
          </a:p>
          <a:p>
            <a:pPr lvl="0" indent="-342900" marL="342900">
              <a:buAutoNum type="arabicPeriod"/>
            </a:pPr>
            <a:r>
              <a:rPr/>
              <a:t>Compilazione checklist</a:t>
            </a:r>
          </a:p>
          <a:p>
            <a:pPr lvl="0" indent="-342900" marL="342900">
              <a:buAutoNum type="arabicPeriod"/>
            </a:pPr>
            <a:r>
              <a:rPr/>
              <a:t>Calcolo esito (Approvata / Respinta)</a:t>
            </a:r>
          </a:p>
          <a:p>
            <a:pPr lvl="0" indent="-342900" marL="342900">
              <a:buAutoNum type="arabicPeriod"/>
            </a:pPr>
            <a:r>
              <a:rPr/>
              <a:t>Chiusura pratica + callback BPM</a:t>
            </a:r>
          </a:p>
          <a:p>
            <a:pPr lvl="0" indent="0" marL="0">
              <a:buNone/>
            </a:pPr>
            <a:r>
              <a:rPr/>
              <a:t>7 container, 1 comando, 0 dipendenze sul PC del cliente (solo Docker).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vero IP Lutech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Non il software — il metodo.</a:t>
            </a:r>
          </a:p>
          <a:p>
            <a:pPr lvl="0" indent="0">
              <a:buNone/>
            </a:pPr>
            <a:r>
              <a:rPr>
                <a:latin typeface="Courier"/>
              </a:rPr>
              <a:t>   Problema cliente
         │
         ▼
   ┌─────────────────┐
   │ FABBRICA AI     │
   │   Lutech        │
   ├─────────────────┤
   │ • Analisi       │
   │ • Gap Analysis  │
   │ • Sviluppo      │
   │ • Migrazione    │
   └─────────────────┘
         │
         ▼
   Piattaforma open source
   • enterprise-grade
   • vendor-agnostic
   • evolutiva</a:t>
            </a:r>
          </a:p>
          <a:p>
            <a:pPr lvl="0"/>
            <a:r>
              <a:rPr/>
              <a:t>Replicabile su qualsiasi applicazione proprietaria</a:t>
            </a:r>
          </a:p>
          <a:p>
            <a:pPr lvl="0"/>
            <a:r>
              <a:rPr/>
              <a:t>Applicabile a qualsiasi stack open source target</a:t>
            </a:r>
          </a:p>
          <a:p>
            <a:pPr lvl="0"/>
            <a:r>
              <a:rPr b="1"/>
              <a:t>La fabbrica impara</a:t>
            </a:r>
            <a:r>
              <a:rPr/>
              <a:t>: ogni migrazione affina gli agenti per la successiva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Liberiamo la tua applicazione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Abbiamo costruito una fabbrica AI che porta applicazioni da piattaforme proprietarie a open source in modo sistematico.</a:t>
            </a:r>
          </a:p>
          <a:p>
            <a:pPr lvl="0" indent="0" marL="1270000">
              <a:buNone/>
            </a:pPr>
            <a:r>
              <a:rPr sz="2000" i="1"/>
              <a:t>Abbiamo dimostrato che la piattaforma è davvero vendor-agnostic — cambiando il motore BPM con agenti AI.</a:t>
            </a:r>
          </a:p>
          <a:p>
            <a:pPr lvl="0" indent="0" marL="1270000">
              <a:buNone/>
            </a:pPr>
            <a:r>
              <a:rPr sz="2000" i="1"/>
              <a:t>Il prossimo passo è la migrazione a microservizi Quarkus, con agenti specializzati e chirurgici.</a:t>
            </a:r>
          </a:p>
          <a:p>
            <a:pPr lvl="0" indent="0" marL="0">
              <a:buNone/>
            </a:pPr>
            <a:r>
              <a:rPr b="1"/>
              <a:t>Qualsiasi componente è sostituibile.</a:t>
            </a:r>
            <a:r>
              <a:rPr/>
              <a:t> </a:t>
            </a:r>
            <a:r>
              <a:rPr b="1"/>
              <a:t>La sostituzione è automatizzabile.</a:t>
            </a:r>
            <a:r>
              <a:rPr/>
              <a:t> </a:t>
            </a:r>
            <a:r>
              <a:rPr b="1"/>
              <a:t>Ogni iterazione rende il metodo più preciso.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Vuoi liberare la tua applicazione dal lock-in?</a:t>
            </a:r>
            <a:r>
              <a:rPr/>
              <a:t> </a:t>
            </a:r>
            <a:r>
              <a:rPr b="1"/>
              <a:t>Parliamone.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Fabbrica AI Lutech</dc:title>
  <dc:creator>Lutech</dc:creator>
  <cp:keywords/>
  <dcterms:created xsi:type="dcterms:W3CDTF">2026-06-01T18:34:27Z</dcterms:created>
  <dcterms:modified xsi:type="dcterms:W3CDTF">2026-06-01T18:34:27Z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Liberare le applicazioni dal vendor lock-in</vt:lpwstr>
  </property>
</Properties>
</file>